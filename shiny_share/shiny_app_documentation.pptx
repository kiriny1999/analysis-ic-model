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312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  <p:sldId id="29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3" r:id="rId57"/>
    <p:sldId id="315" r:id="rId58"/>
    <p:sldId id="310" r:id="rId59"/>
    <p:sldId id="311" r:id="rId60"/>
    <p:sldId id="314" r:id="rId6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158" autoAdjust="0"/>
    <p:restoredTop sz="94699" autoAdjust="0"/>
  </p:normalViewPr>
  <p:slideViewPr>
    <p:cSldViewPr snapToGrid="0" snapToObjects="1">
      <p:cViewPr varScale="1">
        <p:scale>
          <a:sx n="214" d="100"/>
          <a:sy n="214" d="100"/>
        </p:scale>
        <p:origin x="176" y="1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icrosoft YaHei" panose="020B0503020204020204" pitchFamily="34" charset="-122"/>
              </a:defRPr>
            </a:lvl1pPr>
          </a:lstStyle>
          <a:p>
            <a:endParaRPr lang="en-C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icrosoft YaHei" panose="020B0503020204020204" pitchFamily="34" charset="-122"/>
              </a:defRPr>
            </a:lvl1pPr>
          </a:lstStyle>
          <a:p>
            <a:fld id="{C32BD08D-DEF6-E541-B0BE-E05AC43599B5}" type="datetimeFigureOut">
              <a:rPr lang="en-CN" smtClean="0"/>
              <a:pPr/>
              <a:t>2026/2/27</a:t>
            </a:fld>
            <a:endParaRPr lang="en-C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icrosoft YaHei" panose="020B0503020204020204" pitchFamily="34" charset="-122"/>
              </a:defRPr>
            </a:lvl1pPr>
          </a:lstStyle>
          <a:p>
            <a:endParaRPr lang="en-C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icrosoft YaHei" panose="020B0503020204020204" pitchFamily="34" charset="-122"/>
              </a:defRPr>
            </a:lvl1pPr>
          </a:lstStyle>
          <a:p>
            <a:fld id="{003BF965-7F94-684D-8300-8DE582DA0C17}" type="slidenum">
              <a:rPr lang="en-CN" smtClean="0"/>
              <a:pPr/>
              <a:t>‹#›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8908901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icrosoft YaHei" panose="020B0503020204020204" pitchFamily="34" charset="-122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BF965-7F94-684D-8300-8DE582DA0C17}" type="slidenum">
              <a:rPr lang="en-CN" smtClean="0"/>
              <a:pPr/>
              <a:t>4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7146913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BF965-7F94-684D-8300-8DE582DA0C17}" type="slidenum">
              <a:rPr lang="en-CN" smtClean="0"/>
              <a:pPr/>
              <a:t>10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5693849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BF965-7F94-684D-8300-8DE582DA0C17}" type="slidenum">
              <a:rPr lang="en-CN" smtClean="0"/>
              <a:pPr/>
              <a:t>57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057725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3BF965-7F94-684D-8300-8DE582DA0C17}" type="slidenum">
              <a:rPr lang="en-CN" smtClean="0"/>
              <a:pPr/>
              <a:t>60</a:t>
            </a:fld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1533522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1799" y="1473200"/>
            <a:ext cx="5398295" cy="1816098"/>
          </a:xfrm>
        </p:spPr>
        <p:txBody>
          <a:bodyPr anchor="b">
            <a:normAutofit/>
          </a:bodyPr>
          <a:lstStyle>
            <a:lvl1pPr algn="r">
              <a:defRPr sz="4000" b="1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1799" y="3289300"/>
            <a:ext cx="5398295" cy="10541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cap="all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699419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71799" y="4402932"/>
            <a:ext cx="3670469" cy="28336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56719" y="4402932"/>
            <a:ext cx="413375" cy="283369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53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>
            <a:lvl1pPr>
              <a:defRPr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>
              <a:defRPr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>
              <a:defRPr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>
              <a:defRPr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>
              <a:defRPr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8428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2481436"/>
            <a:ext cx="7598570" cy="1101600"/>
          </a:xfrm>
        </p:spPr>
        <p:txBody>
          <a:bodyPr anchor="b"/>
          <a:lstStyle>
            <a:lvl1pPr algn="l">
              <a:defRPr sz="3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3036"/>
            <a:ext cx="7598571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 cap="all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257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1" y="1606550"/>
            <a:ext cx="3746501" cy="273685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66421" y="1606551"/>
            <a:ext cx="3746499" cy="273685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821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0252" y="1663700"/>
            <a:ext cx="35317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1" y="2152651"/>
            <a:ext cx="3747692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3" y="1670050"/>
            <a:ext cx="354211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67612" y="2152651"/>
            <a:ext cx="3746501" cy="219074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356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964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233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555750"/>
            <a:ext cx="2760664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6150" y="457201"/>
            <a:ext cx="4626770" cy="38862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584450"/>
            <a:ext cx="2760664" cy="137160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738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1200150"/>
            <a:ext cx="4623490" cy="102870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2190" y="685800"/>
            <a:ext cx="2460731" cy="3429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2228850"/>
            <a:ext cx="4623490" cy="13716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855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549649"/>
            <a:ext cx="759857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8700" y="699084"/>
            <a:ext cx="6569870" cy="2373732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0" y="3974702"/>
            <a:ext cx="7598570" cy="370284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82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343149"/>
          </a:xfrm>
        </p:spPr>
        <p:txBody>
          <a:bodyPr anchor="ctr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717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b="0" i="0" dirty="0">
                <a:solidFill>
                  <a:schemeClr val="tx1"/>
                </a:solidFill>
                <a:effectLst/>
                <a:latin typeface="Microsoft YaHei" panose="020B0503020204020204" pitchFamily="34" charset="-122"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b="0" i="0" dirty="0">
                <a:solidFill>
                  <a:schemeClr val="tx1"/>
                </a:solidFill>
                <a:effectLst/>
                <a:latin typeface="Microsoft YaHei" panose="020B0503020204020204" pitchFamily="34" charset="-122"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823406" y="2514600"/>
            <a:ext cx="7004388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599" y="3257550"/>
            <a:ext cx="7614275" cy="108585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8510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2" y="2481436"/>
            <a:ext cx="7598569" cy="1101600"/>
          </a:xfrm>
        </p:spPr>
        <p:txBody>
          <a:bodyPr anchor="b">
            <a:normAutofit/>
          </a:bodyPr>
          <a:lstStyle>
            <a:lvl1pPr algn="l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583036"/>
            <a:ext cx="7598570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154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78400" y="2057400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b="0" i="0" dirty="0">
                <a:solidFill>
                  <a:schemeClr val="tx1"/>
                </a:solidFill>
                <a:effectLst/>
                <a:latin typeface="Microsoft YaHei" panose="020B0503020204020204" pitchFamily="34" charset="-122"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6206" y="61750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b="0" i="0" dirty="0">
                <a:solidFill>
                  <a:schemeClr val="tx1"/>
                </a:solidFill>
                <a:effectLst/>
                <a:latin typeface="Microsoft YaHei" panose="020B0503020204020204" pitchFamily="34" charset="-122"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744201" y="457201"/>
            <a:ext cx="7162799" cy="2057399"/>
          </a:xfrm>
        </p:spPr>
        <p:txBody>
          <a:bodyPr anchor="ctr">
            <a:normAutofit/>
          </a:bodyPr>
          <a:lstStyle>
            <a:lvl1pPr algn="l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0" y="2914650"/>
            <a:ext cx="7601577" cy="6667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49" y="3581400"/>
            <a:ext cx="7601577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769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70" cy="20573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4351" y="2628900"/>
            <a:ext cx="7598571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3257550"/>
            <a:ext cx="7598571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4087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73626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619" cy="5142161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94006" y="457200"/>
            <a:ext cx="1618914" cy="38862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457200"/>
            <a:ext cx="5874087" cy="38862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/>
          <a:lstStyle/>
          <a:p>
            <a:r>
              <a:rPr lang="en-US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7700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457201"/>
            <a:ext cx="7598569" cy="1092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1606551"/>
            <a:ext cx="7598569" cy="27368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42245" y="4402932"/>
            <a:ext cx="1200150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effectLst/>
                <a:latin typeface="Microsoft YaHei" panose="020B0503020204020204" pitchFamily="34" charset="-122"/>
              </a:defRPr>
            </a:lvl1pPr>
          </a:lstStyle>
          <a:p>
            <a:r>
              <a:rPr lang="en-US" dirty="0"/>
              <a:t>2026-02-27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4402932"/>
            <a:ext cx="5870744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>
                <a:solidFill>
                  <a:schemeClr val="tx1"/>
                </a:solidFill>
                <a:effectLst/>
                <a:latin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9546" y="4402932"/>
            <a:ext cx="413375" cy="283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tx1"/>
                </a:solidFill>
                <a:effectLst/>
                <a:latin typeface="Microsoft YaHei" panose="020B0503020204020204" pitchFamily="34" charset="-122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519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3200" b="0" i="0" kern="1200" cap="all">
          <a:ln w="3175" cmpd="sng">
            <a:noFill/>
          </a:ln>
          <a:solidFill>
            <a:schemeClr val="tx1"/>
          </a:solidFill>
          <a:effectLst/>
          <a:latin typeface="Microsoft YaHei" panose="020B0503020204020204" pitchFamily="34" charset="-122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2000" b="0" i="0" kern="1200" cap="none">
          <a:solidFill>
            <a:schemeClr val="tx1"/>
          </a:solidFill>
          <a:effectLst/>
          <a:latin typeface="Microsoft YaHei" panose="020B0503020204020204" pitchFamily="34" charset="-122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2000" b="0" i="0" kern="1200" cap="none">
          <a:solidFill>
            <a:schemeClr val="tx1"/>
          </a:solidFill>
          <a:effectLst/>
          <a:latin typeface="Microsoft YaHei" panose="020B0503020204020204" pitchFamily="34" charset="-122"/>
          <a:ea typeface="+mn-ea"/>
          <a:cs typeface="+mn-cs"/>
        </a:defRPr>
      </a:lvl2pPr>
      <a:lvl3pPr marL="900113" indent="-214313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600" b="0" i="0" kern="1200" cap="none">
          <a:solidFill>
            <a:schemeClr val="tx1"/>
          </a:solidFill>
          <a:effectLst/>
          <a:latin typeface="Microsoft YaHei" panose="020B0503020204020204" pitchFamily="34" charset="-122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b="0" i="0" kern="1200" cap="none">
          <a:solidFill>
            <a:schemeClr val="tx1"/>
          </a:solidFill>
          <a:effectLst/>
          <a:latin typeface="Microsoft YaHei" panose="020B0503020204020204" pitchFamily="34" charset="-122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1200" b="0" i="0" kern="1200" cap="none">
          <a:solidFill>
            <a:schemeClr val="tx1"/>
          </a:solidFill>
          <a:effectLst/>
          <a:latin typeface="Microsoft YaHei" panose="020B0503020204020204" pitchFamily="34" charset="-122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0"/>
        </a:spcBef>
        <a:spcAft>
          <a:spcPts val="750"/>
        </a:spcAft>
        <a:buClr>
          <a:schemeClr val="tx1"/>
        </a:buClr>
        <a:buSzPct val="100000"/>
        <a:buFont typeface="Arial"/>
        <a:buChar char="•"/>
        <a:defRPr sz="9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58.xml"/><Relationship Id="rId3" Type="http://schemas.openxmlformats.org/officeDocument/2006/relationships/slide" Target="slide11.xml"/><Relationship Id="rId7" Type="http://schemas.openxmlformats.org/officeDocument/2006/relationships/slide" Target="slide50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1.xml"/><Relationship Id="rId5" Type="http://schemas.openxmlformats.org/officeDocument/2006/relationships/slide" Target="slide29.xml"/><Relationship Id="rId4" Type="http://schemas.openxmlformats.org/officeDocument/2006/relationships/slide" Target="slide2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hyperlink" Target="https://trae.ai/docs/ide-guide/" TargetMode="External"/><Relationship Id="rId3" Type="http://schemas.openxmlformats.org/officeDocument/2006/relationships/hyperlink" Target="https://xgboost.readthedocs.io/en/stable/" TargetMode="External"/><Relationship Id="rId7" Type="http://schemas.openxmlformats.org/officeDocument/2006/relationships/hyperlink" Target="https://en.wikipedia.org/wiki/Vibe_coding?useskin=vector" TargetMode="External"/><Relationship Id="rId2" Type="http://schemas.openxmlformats.org/officeDocument/2006/relationships/hyperlink" Target="https://shiny.posit.co/r/documentatio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an.r-project.org/web/packages/showtext/vignettes/introduction.html" TargetMode="External"/><Relationship Id="rId5" Type="http://schemas.openxmlformats.org/officeDocument/2006/relationships/hyperlink" Target="https://docs.posit.co/shinyapps.io/" TargetMode="External"/><Relationship Id="rId4" Type="http://schemas.openxmlformats.org/officeDocument/2006/relationships/hyperlink" Target="https://shap.readthedocs.io/en/latest/" TargetMode="Externa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dirty="0" err="1"/>
              <a:t>内在能力评估</a:t>
            </a:r>
            <a:br>
              <a:rPr lang="en-US" dirty="0"/>
            </a:br>
            <a:r>
              <a:rPr dirty="0" err="1"/>
              <a:t>Shiny应用构建教程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lvl="0" indent="0">
              <a:buNone/>
            </a:pPr>
            <a:br/>
            <a:br/>
            <a:r>
              <a:t>康瑞赋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AF3EC9-937B-94DA-13A2-40E678787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</a:t>
            </a:fld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29243D-072C-39B1-AE07-667294EEE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2026-02-27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Table of 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>
                <a:hlinkClick r:id="rId2" action="ppaction://hlinksldjump"/>
              </a:rPr>
              <a:t>1. Shiny简介</a:t>
            </a:r>
          </a:p>
          <a:p>
            <a:pPr lvl="0"/>
            <a:r>
              <a:rPr>
                <a:hlinkClick r:id="rId3" action="ppaction://hlinksldjump"/>
              </a:rPr>
              <a:t>2. 应用顶层设计</a:t>
            </a:r>
          </a:p>
          <a:p>
            <a:pPr lvl="0"/>
            <a:r>
              <a:rPr>
                <a:hlinkClick r:id="rId4" action="ppaction://hlinksldjump"/>
              </a:rPr>
              <a:t>3. 技术架构设计</a:t>
            </a:r>
          </a:p>
          <a:p>
            <a:pPr lvl="0"/>
            <a:r>
              <a:rPr>
                <a:hlinkClick r:id="rId5" action="ppaction://hlinksldjump"/>
              </a:rPr>
              <a:t>4. 详细设计与实现</a:t>
            </a:r>
          </a:p>
          <a:p>
            <a:pPr lvl="0"/>
            <a:r>
              <a:rPr>
                <a:hlinkClick r:id="rId6" action="ppaction://hlinksldjump"/>
              </a:rPr>
              <a:t>5. 部署与运维设计</a:t>
            </a:r>
          </a:p>
          <a:p>
            <a:pPr lvl="0"/>
            <a:r>
              <a:rPr>
                <a:hlinkClick r:id="rId7" action="ppaction://hlinksldjump"/>
              </a:rPr>
              <a:t>6. Vibe Coding开发范式</a:t>
            </a:r>
          </a:p>
          <a:p>
            <a:pPr lvl="0"/>
            <a:r>
              <a:rPr>
                <a:hlinkClick r:id="rId8" action="ppaction://hlinksldjump"/>
              </a:rPr>
              <a:t>7. 参考资料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8C9190-2FE5-97A5-3FF9-5109BFD04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Shiny简介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2E1B000-2DD7-553E-8350-C0C9DFACD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1.1 Shiny是什么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定义</a:t>
            </a:r>
            <a:r>
              <a:rPr b="1" dirty="0"/>
              <a:t>：</a:t>
            </a:r>
          </a:p>
          <a:p>
            <a:pPr lvl="0"/>
            <a:r>
              <a:rPr dirty="0" err="1"/>
              <a:t>Shiny是R语言</a:t>
            </a:r>
            <a:r>
              <a:rPr lang="zh-CN" altLang="en-US" dirty="0"/>
              <a:t>、</a:t>
            </a:r>
            <a:r>
              <a:rPr lang="en-US" altLang="zh-CN" dirty="0" err="1"/>
              <a:t>Python</a:t>
            </a:r>
            <a:r>
              <a:rPr dirty="0" err="1"/>
              <a:t>的Web应用框架</a:t>
            </a:r>
            <a:endParaRPr dirty="0"/>
          </a:p>
          <a:p>
            <a:pPr lvl="0"/>
            <a:r>
              <a:rPr dirty="0" err="1"/>
              <a:t>允许用户创建交互式的Web应用程序</a:t>
            </a:r>
            <a:endParaRPr dirty="0"/>
          </a:p>
          <a:p>
            <a:pPr lvl="0"/>
            <a:r>
              <a:rPr dirty="0" err="1"/>
              <a:t>无需</a:t>
            </a:r>
            <a:r>
              <a:rPr b="1" dirty="0" err="1"/>
              <a:t>HTML</a:t>
            </a:r>
            <a:r>
              <a:rPr dirty="0" err="1"/>
              <a:t>、CSS或JavaScript知识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F821B-C01B-8521-0464-0F46E91BB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Shiny for Python :: Cheatsheet">
            <a:extLst>
              <a:ext uri="{FF2B5EF4-FFF2-40B4-BE49-F238E27FC236}">
                <a16:creationId xmlns:a16="http://schemas.microsoft.com/office/drawing/2014/main" id="{92A566DA-00CC-6001-37A9-5A85E19B6E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163" y="1467945"/>
            <a:ext cx="2052172" cy="23685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1.1 Shiny是什么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核心特点</a:t>
            </a:r>
            <a:r>
              <a:rPr b="1" dirty="0"/>
              <a:t>：</a:t>
            </a:r>
          </a:p>
          <a:p>
            <a:pPr lvl="0"/>
            <a:r>
              <a:rPr b="1" dirty="0" err="1"/>
              <a:t>交互式</a:t>
            </a:r>
            <a:r>
              <a:rPr dirty="0" err="1"/>
              <a:t>：支持实时用户交互和响应</a:t>
            </a:r>
            <a:endParaRPr dirty="0"/>
          </a:p>
          <a:p>
            <a:pPr lvl="0"/>
            <a:r>
              <a:rPr b="1" dirty="0" err="1"/>
              <a:t>R集成</a:t>
            </a:r>
            <a:r>
              <a:rPr dirty="0" err="1"/>
              <a:t>：完全集成R的数据分析能力</a:t>
            </a:r>
            <a:endParaRPr dirty="0"/>
          </a:p>
          <a:p>
            <a:pPr lvl="0"/>
            <a:r>
              <a:rPr b="1" dirty="0" err="1"/>
              <a:t>可视化</a:t>
            </a:r>
            <a:r>
              <a:rPr dirty="0" err="1"/>
              <a:t>：内置多种数据可视化工具</a:t>
            </a:r>
            <a:endParaRPr dirty="0"/>
          </a:p>
          <a:p>
            <a:pPr lvl="0"/>
            <a:r>
              <a:rPr b="1" dirty="0" err="1"/>
              <a:t>部署简单</a:t>
            </a:r>
            <a:r>
              <a:rPr dirty="0" err="1"/>
              <a:t>：支持多种部署方式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DA6146-D069-2450-30B6-0796CABFA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1.2 Shiny工作原理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架构</a:t>
            </a:r>
            <a:r>
              <a:rPr b="1" dirty="0"/>
              <a:t>：</a:t>
            </a:r>
          </a:p>
          <a:p>
            <a:pPr lvl="0"/>
            <a:r>
              <a:rPr b="1" dirty="0" err="1"/>
              <a:t>客户端-服务器架构</a:t>
            </a:r>
            <a:endParaRPr b="1" dirty="0"/>
          </a:p>
          <a:p>
            <a:pPr lvl="0"/>
            <a:r>
              <a:rPr b="1" dirty="0" err="1"/>
              <a:t>客户端</a:t>
            </a:r>
            <a:r>
              <a:rPr dirty="0" err="1"/>
              <a:t>：用户浏览器，负责UI展示</a:t>
            </a:r>
            <a:r>
              <a:rPr lang="zh-CN" altLang="en-US" dirty="0"/>
              <a:t>（前端）</a:t>
            </a:r>
            <a:endParaRPr dirty="0"/>
          </a:p>
          <a:p>
            <a:pPr lvl="0"/>
            <a:r>
              <a:rPr b="1" dirty="0" err="1"/>
              <a:t>服务器</a:t>
            </a:r>
            <a:r>
              <a:rPr dirty="0" err="1"/>
              <a:t>：R进程，处理计算和数据操作</a:t>
            </a:r>
            <a:r>
              <a:rPr lang="zh-CN" altLang="en-US" dirty="0"/>
              <a:t>（后端）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0A86CF-45D9-340C-7824-029BC1A7B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1.2 </a:t>
            </a:r>
            <a:r>
              <a:rPr b="1" dirty="0" err="1"/>
              <a:t>Shiny工作原理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数据流向</a:t>
            </a:r>
            <a:r>
              <a:rPr b="1" dirty="0"/>
              <a:t>：</a:t>
            </a:r>
          </a:p>
          <a:p>
            <a:pPr marL="342900" lvl="0" indent="-342900">
              <a:buAutoNum type="arabicPeriod"/>
            </a:pPr>
            <a:r>
              <a:rPr dirty="0" err="1"/>
              <a:t>用户在</a:t>
            </a:r>
            <a:r>
              <a:rPr b="1" dirty="0" err="1"/>
              <a:t>浏览器</a:t>
            </a:r>
            <a:r>
              <a:rPr dirty="0" err="1"/>
              <a:t>中与UI交互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输入数据发送到服务器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服务器执行R代码处理数据</a:t>
            </a:r>
            <a:endParaRPr dirty="0"/>
          </a:p>
          <a:p>
            <a:pPr marL="342900" lvl="0" indent="-342900">
              <a:buAutoNum type="arabicPeriod"/>
            </a:pPr>
            <a:r>
              <a:rPr dirty="0" err="1"/>
              <a:t>结果返回给客户端显示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20ABF-7EAB-B633-D30B-6C2E68238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1.3 Shiny应用结构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文件结构：</a:t>
            </a:r>
          </a:p>
          <a:p>
            <a:pPr lvl="0"/>
            <a:r>
              <a:rPr b="1"/>
              <a:t>单文件结构</a:t>
            </a:r>
            <a:r>
              <a:t>：app.R，包含UI和Server</a:t>
            </a:r>
          </a:p>
          <a:p>
            <a:pPr lvl="0"/>
            <a:r>
              <a:rPr b="1"/>
              <a:t>多文件结构</a:t>
            </a:r>
            <a:r>
              <a:t>：ui.R、server.R、global.R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E099F7-D2D9-23F7-22A2-FFFDE7F6A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1.3 Shiny应用结构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多文件结构优势：</a:t>
            </a:r>
          </a:p>
          <a:p>
            <a:pPr lvl="0"/>
            <a:r>
              <a:t>代码组织更清晰</a:t>
            </a:r>
          </a:p>
          <a:p>
            <a:pPr lvl="0"/>
            <a:r>
              <a:t>便于团队协作</a:t>
            </a:r>
          </a:p>
          <a:p>
            <a:pPr lvl="0"/>
            <a:r>
              <a:t>适合大型应用开发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52AFEA-6B00-849B-0611-0D50FE04D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21134-2565-1D46-0435-44D7A1692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172A2-8E75-C48F-0056-961415B468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9431" y="606041"/>
            <a:ext cx="4198936" cy="1090022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b="1" dirty="0"/>
              <a:t>1.</a:t>
            </a:r>
            <a:r>
              <a:rPr lang="en-US" altLang="zh-CN" b="1" dirty="0"/>
              <a:t>4</a:t>
            </a:r>
            <a:r>
              <a:rPr b="1" dirty="0"/>
              <a:t> </a:t>
            </a:r>
            <a:r>
              <a:rPr b="1" dirty="0" err="1"/>
              <a:t>Shiny应用</a:t>
            </a:r>
            <a:r>
              <a:rPr lang="en-CN" b="1" dirty="0"/>
              <a:t>举例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94E43-6853-DBE6-1DC0-632CAB6C3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0806" y="3756787"/>
            <a:ext cx="3002202" cy="1047225"/>
          </a:xfrm>
        </p:spPr>
        <p:txBody>
          <a:bodyPr>
            <a:normAutofit/>
          </a:bodyPr>
          <a:lstStyle/>
          <a:p>
            <a:pPr marL="0" lvl="0" indent="0" algn="ctr">
              <a:buNone/>
            </a:pPr>
            <a:r>
              <a:rPr lang="en-CN" b="1" dirty="0"/>
              <a:t>RoB偏倚评价可视化工具</a:t>
            </a:r>
            <a:r>
              <a:rPr lang="zh-CN" altLang="en-US" b="1" dirty="0"/>
              <a:t>（</a:t>
            </a:r>
            <a:r>
              <a:rPr lang="en-US" altLang="zh-CN" b="1" dirty="0" err="1"/>
              <a:t>robvis</a:t>
            </a:r>
            <a:r>
              <a:rPr lang="zh-CN" altLang="en-US" b="1" dirty="0"/>
              <a:t>）</a:t>
            </a:r>
            <a:endParaRPr lang="en-CN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C69995-4FC9-5DA2-CF41-84EF21BDF8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99545" y="4402931"/>
            <a:ext cx="413375" cy="28336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C5EF2332-01BF-834F-8236-50238282D533}" type="slidenum">
              <a:rPr lang="en-US" sz="1300" smtClean="0"/>
              <a:pPr>
                <a:lnSpc>
                  <a:spcPct val="90000"/>
                </a:lnSpc>
                <a:spcAft>
                  <a:spcPts val="600"/>
                </a:spcAft>
              </a:pPr>
              <a:t>10</a:t>
            </a:fld>
            <a:endParaRPr lang="en-US" sz="13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B5A35-B5C2-546B-2FA2-BE7EAE40A8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531" y="1660568"/>
            <a:ext cx="3278338" cy="20489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66477C6-5A63-E3D6-01C9-B4E74F12F0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738" y="1660568"/>
            <a:ext cx="3278338" cy="204896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196B427-BCF5-BBD7-7219-E40C6725D8E7}"/>
              </a:ext>
            </a:extLst>
          </p:cNvPr>
          <p:cNvSpPr txBox="1">
            <a:spLocks/>
          </p:cNvSpPr>
          <p:nvPr/>
        </p:nvSpPr>
        <p:spPr>
          <a:xfrm>
            <a:off x="4835411" y="3666384"/>
            <a:ext cx="3002202" cy="11376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14313" indent="-214313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2000" b="0" i="0" kern="1200" cap="none" baseline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57213" indent="-214313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2000" b="0" i="0" kern="1200" cap="none" baseline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900113" indent="-214313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1600" b="0" i="0" kern="1200" cap="none" baseline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1157288" indent="-128588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1200" b="0" i="0" kern="1200" cap="none" baseline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4pPr>
            <a:lvl5pPr marL="1500188" indent="-128588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1200" b="0" i="0" kern="1200" cap="none" baseline="0">
                <a:solidFill>
                  <a:schemeClr val="tx1"/>
                </a:solidFill>
                <a:effectLst/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5pPr>
            <a:lvl6pPr marL="1885950" indent="-171450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ts val="0"/>
              </a:spcBef>
              <a:spcAft>
                <a:spcPts val="750"/>
              </a:spcAft>
              <a:buClr>
                <a:schemeClr val="tx1"/>
              </a:buClr>
              <a:buSzPct val="100000"/>
              <a:buFont typeface="Arial"/>
              <a:buChar char="•"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b="1" dirty="0"/>
              <a:t>PRISMA</a:t>
            </a:r>
            <a:r>
              <a:rPr lang="zh-CN" altLang="en-US" b="1" dirty="0"/>
              <a:t>文献筛选流程图绘制工具</a:t>
            </a:r>
          </a:p>
        </p:txBody>
      </p:sp>
    </p:spTree>
    <p:extLst>
      <p:ext uri="{BB962C8B-B14F-4D97-AF65-F5344CB8AC3E}">
        <p14:creationId xmlns:p14="http://schemas.microsoft.com/office/powerpoint/2010/main" val="42451185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应用顶层设计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D162CB-3582-0617-A86A-F8DBE6B6F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2.1 应用目标与功能定位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应用目标</a:t>
            </a:r>
            <a:r>
              <a:rPr b="1" dirty="0"/>
              <a:t>：</a:t>
            </a:r>
          </a:p>
          <a:p>
            <a:pPr lvl="0"/>
            <a:r>
              <a:rPr dirty="0" err="1"/>
              <a:t>构建一个基于机器学习模型的内在能力评估工具</a:t>
            </a:r>
            <a:endParaRPr dirty="0"/>
          </a:p>
          <a:p>
            <a:pPr lvl="0"/>
            <a:r>
              <a:rPr dirty="0" err="1"/>
              <a:t>为用户提供</a:t>
            </a:r>
            <a:r>
              <a:rPr b="1" dirty="0" err="1"/>
              <a:t>直观、易用</a:t>
            </a:r>
            <a:r>
              <a:rPr dirty="0" err="1"/>
              <a:t>的预测界面</a:t>
            </a:r>
            <a:endParaRPr dirty="0"/>
          </a:p>
          <a:p>
            <a:pPr lvl="0"/>
            <a:r>
              <a:rPr dirty="0" err="1"/>
              <a:t>提供详细的预测结果解释，增强模型透明度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46C58E-1DA1-8081-2A77-154EA2B26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2.1 应用目标与功能定位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功能定位：</a:t>
            </a:r>
          </a:p>
          <a:p>
            <a:pPr lvl="0"/>
            <a:r>
              <a:rPr b="1"/>
              <a:t>核心功能</a:t>
            </a:r>
            <a:r>
              <a:t>：基于XGBoost模型预测内在能力分数</a:t>
            </a:r>
          </a:p>
          <a:p>
            <a:pPr lvl="0"/>
            <a:r>
              <a:rPr b="1"/>
              <a:t>辅助功能</a:t>
            </a:r>
            <a:r>
              <a:t>：多维度输入参数管理</a:t>
            </a:r>
          </a:p>
          <a:p>
            <a:pPr lvl="0"/>
            <a:r>
              <a:rPr b="1"/>
              <a:t>辅助功能</a:t>
            </a:r>
            <a:r>
              <a:t>：预测结果可视化解释</a:t>
            </a:r>
          </a:p>
          <a:p>
            <a:pPr lvl="0"/>
            <a:r>
              <a:rPr b="1"/>
              <a:t>辅助功能</a:t>
            </a:r>
            <a:r>
              <a:t>：全局特征重要性分析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BE0594-5FDE-964D-92D5-F1FCA1AEC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2.1 应用目标与功能定位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目标用户：</a:t>
            </a:r>
          </a:p>
          <a:p>
            <a:pPr lvl="0"/>
            <a:r>
              <a:t>医疗保健专业人员</a:t>
            </a:r>
          </a:p>
          <a:p>
            <a:pPr lvl="0"/>
            <a:r>
              <a:t>研究人员</a:t>
            </a:r>
          </a:p>
          <a:p>
            <a:pPr lvl="0"/>
            <a:r>
              <a:t>需要自我评估的老年人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CF51C-DAC6-35CC-4697-4E2C7B8A6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2.2 整体架构设计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系统架构：</a:t>
            </a:r>
          </a:p>
          <a:p>
            <a:pPr lvl="0"/>
            <a:r>
              <a:rPr b="1"/>
              <a:t>前端</a:t>
            </a:r>
            <a:r>
              <a:t>：Shiny UI界面，包含输入表单和结果展示</a:t>
            </a:r>
          </a:p>
          <a:p>
            <a:pPr lvl="0"/>
            <a:r>
              <a:rPr b="1"/>
              <a:t>后端</a:t>
            </a:r>
            <a:r>
              <a:t>：Shiny Server，处理业务逻辑和模型预测</a:t>
            </a:r>
          </a:p>
          <a:p>
            <a:pPr lvl="0"/>
            <a:r>
              <a:rPr b="1"/>
              <a:t>数据层</a:t>
            </a:r>
            <a:r>
              <a:t>：预训练的XGBoost模型和特征配置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BD468A-8322-2E03-F81A-0B15FFE16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2.2 </a:t>
            </a:r>
            <a:r>
              <a:rPr b="1" dirty="0" err="1"/>
              <a:t>整体架构设计</a:t>
            </a:r>
            <a:endParaRPr b="1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zh-CN" altLang="en-US" b="1" dirty="0"/>
              <a:t>架构图：</a:t>
            </a:r>
          </a:p>
          <a:p>
            <a:pPr marL="0" lvl="0" indent="0">
              <a:buNone/>
            </a:pPr>
            <a:endParaRPr b="1" dirty="0"/>
          </a:p>
        </p:txBody>
      </p:sp>
      <p:pic>
        <p:nvPicPr>
          <p:cNvPr id="3" name="Picture 1" descr="shiny_app_documentation_files/figure-pptx/mermaid-figure-1.png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737100" y="203200"/>
            <a:ext cx="2781300" cy="43815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D56ECB-3C5F-1732-B399-93C5A6ADA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2.3 核心设计原则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用户体验优先：</a:t>
            </a:r>
          </a:p>
          <a:p>
            <a:pPr lvl="0"/>
            <a:r>
              <a:t>简洁直观的界面设计</a:t>
            </a:r>
          </a:p>
          <a:p>
            <a:pPr lvl="0"/>
            <a:r>
              <a:t>合理的输入分组和布局</a:t>
            </a:r>
          </a:p>
          <a:p>
            <a:pPr lvl="0"/>
            <a:r>
              <a:t>实时的反馈机制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850420-4B7F-031D-A3A5-4AC541812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2.3 核心设计原则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技术架构清晰：</a:t>
            </a:r>
          </a:p>
          <a:p>
            <a:pPr lvl="0"/>
            <a:r>
              <a:t>遵循Shiny的三文件结构</a:t>
            </a:r>
          </a:p>
          <a:p>
            <a:pPr lvl="0"/>
            <a:r>
              <a:t>分离关注点，模块化设计</a:t>
            </a:r>
          </a:p>
          <a:p>
            <a:pPr lvl="0"/>
            <a:r>
              <a:t>可扩展性和可维护性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AEDAC3-495B-1FEF-C074-001F8C52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2.3 核心设计原则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预测准确性与可解释性：</a:t>
            </a:r>
          </a:p>
          <a:p>
            <a:pPr lvl="0"/>
            <a:r>
              <a:t>使用预训练的高质量模型</a:t>
            </a:r>
          </a:p>
          <a:p>
            <a:pPr lvl="0"/>
            <a:r>
              <a:t>提供SHAP值解释预测结果</a:t>
            </a:r>
          </a:p>
          <a:p>
            <a:pPr lvl="0"/>
            <a:r>
              <a:t>支持全局和个体水平的解释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9E6C33-65C7-9C15-1DF2-915D3DD76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技术架构设计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6439A65-F38C-6D95-7FB2-4D0D0E73A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3.1 </a:t>
            </a:r>
            <a:r>
              <a:rPr b="1" dirty="0" err="1"/>
              <a:t>技术选型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核心技术：</a:t>
            </a:r>
          </a:p>
          <a:p>
            <a:pPr lvl="0"/>
            <a:r>
              <a:rPr b="1"/>
              <a:t>Web框架</a:t>
            </a:r>
            <a:r>
              <a:t>：Shiny (R语言)</a:t>
            </a:r>
          </a:p>
          <a:p>
            <a:pPr lvl="0"/>
            <a:r>
              <a:rPr b="1"/>
              <a:t>预测模型</a:t>
            </a:r>
            <a:r>
              <a:t>：XGBoost</a:t>
            </a:r>
          </a:p>
          <a:p>
            <a:pPr lvl="0"/>
            <a:r>
              <a:rPr b="1"/>
              <a:t>数据可视化</a:t>
            </a:r>
            <a:r>
              <a:t>：ggplot2 + shapviz</a:t>
            </a:r>
          </a:p>
          <a:p>
            <a:pPr lvl="0"/>
            <a:r>
              <a:rPr b="1"/>
              <a:t>UI框架</a:t>
            </a:r>
            <a:r>
              <a:t>：Bootstrap 5 (bslib)</a:t>
            </a:r>
          </a:p>
          <a:p>
            <a:pPr lvl="0"/>
            <a:r>
              <a:rPr b="1"/>
              <a:t>部署平台</a:t>
            </a:r>
            <a:r>
              <a:t>：shinyapps.io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905227-612C-0E3F-0A75-52F21194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3.1 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技术选型理由：</a:t>
            </a:r>
          </a:p>
          <a:p>
            <a:pPr lvl="0"/>
            <a:r>
              <a:t>Shiny：适合数据分析专业人士，无需前端开发经验</a:t>
            </a:r>
          </a:p>
          <a:p>
            <a:pPr lvl="0"/>
            <a:r>
              <a:t>XGBoost：高性能、高精度的梯度提升算法</a:t>
            </a:r>
          </a:p>
          <a:p>
            <a:pPr lvl="0"/>
            <a:r>
              <a:t>ggplot2：强大的R语言可视化库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2FC313-A9A7-4AD5-C283-16A8B127C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3.1 技术选型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技术选型理由：</a:t>
            </a:r>
          </a:p>
          <a:p>
            <a:pPr lvl="0"/>
            <a:r>
              <a:t>Bootstrap：响应式设计，美观的UI组件</a:t>
            </a:r>
          </a:p>
          <a:p>
            <a:pPr lvl="0"/>
            <a:r>
              <a:t>shinyapps.io：简单易用的Shiny应用托管服务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0D59C7-AB6E-78F9-B050-652F2FCFD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三层架构：</a:t>
            </a:r>
          </a:p>
          <a:p>
            <a:pPr lvl="0"/>
            <a:r>
              <a:rPr b="1"/>
              <a:t>交互层 (Interaction Layer)</a:t>
            </a:r>
            <a:r>
              <a:t>：</a:t>
            </a:r>
          </a:p>
          <a:p>
            <a:pPr lvl="1"/>
            <a:r>
              <a:t>ui.R：定义用户界面</a:t>
            </a:r>
          </a:p>
          <a:p>
            <a:pPr lvl="1"/>
            <a:r>
              <a:t>包含输入控件和输出展示</a:t>
            </a:r>
          </a:p>
          <a:p>
            <a:pPr lvl="1"/>
            <a:r>
              <a:t>负责用户交互和数据展示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14C137-6A97-91D1-147D-3E0739882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三层架构：</a:t>
            </a:r>
          </a:p>
          <a:p>
            <a:pPr lvl="0"/>
            <a:r>
              <a:rPr b="1"/>
              <a:t>业务逻辑层 (Business Logic Layer)</a:t>
            </a:r>
            <a:r>
              <a:t>：</a:t>
            </a:r>
          </a:p>
          <a:p>
            <a:pPr lvl="1"/>
            <a:r>
              <a:t>server.R：处理核心业务逻辑</a:t>
            </a:r>
          </a:p>
          <a:p>
            <a:pPr lvl="1"/>
            <a:r>
              <a:t>响应用户输入事件</a:t>
            </a:r>
          </a:p>
          <a:p>
            <a:pPr lvl="1"/>
            <a:r>
              <a:t>执行模型预测和结果处理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7E934-4AEE-111B-5C4B-CE42515A2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三层架构：</a:t>
            </a:r>
          </a:p>
          <a:p>
            <a:pPr lvl="0"/>
            <a:r>
              <a:rPr b="1"/>
              <a:t>数据层 (Data Layer)</a:t>
            </a:r>
            <a:r>
              <a:t>：</a:t>
            </a:r>
          </a:p>
          <a:p>
            <a:pPr lvl="1"/>
            <a:r>
              <a:t>global.R：管理数据和模型</a:t>
            </a:r>
          </a:p>
          <a:p>
            <a:pPr lvl="1"/>
            <a:r>
              <a:t>加载预训练模型</a:t>
            </a:r>
          </a:p>
          <a:p>
            <a:pPr lvl="1"/>
            <a:r>
              <a:t>定义特征配置和共享资源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3B8F4-3F8A-4B2C-21C5-30FCED015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/>
              <a:t>数据流程设计：</a:t>
            </a:r>
          </a:p>
          <a:p>
            <a:pPr lvl="0"/>
            <a:r>
              <a:rPr b="1"/>
              <a:t>数据流向</a:t>
            </a:r>
            <a:r>
              <a:t>：</a:t>
            </a:r>
          </a:p>
          <a:p>
            <a:pPr marL="685800" lvl="1" indent="-342900">
              <a:buAutoNum type="arabicPeriod"/>
            </a:pPr>
            <a:r>
              <a:rPr b="1"/>
              <a:t>输入阶段</a:t>
            </a:r>
            <a:r>
              <a:t>：用户通过UI输入参数</a:t>
            </a:r>
          </a:p>
          <a:p>
            <a:pPr marL="685800" lvl="1" indent="-342900">
              <a:buAutoNum type="arabicPeriod"/>
            </a:pPr>
            <a:r>
              <a:rPr b="1"/>
              <a:t>处理阶段</a:t>
            </a:r>
            <a:r>
              <a:t>：Server接收输入，构建特征向量</a:t>
            </a:r>
          </a:p>
          <a:p>
            <a:pPr marL="685800" lvl="1" indent="-342900">
              <a:buAutoNum type="arabicPeriod"/>
            </a:pPr>
            <a:r>
              <a:rPr b="1"/>
              <a:t>预测阶段</a:t>
            </a:r>
            <a:r>
              <a:t>：调用XGBoost模型生成预测</a:t>
            </a:r>
          </a:p>
          <a:p>
            <a:pPr marL="685800" lvl="1" indent="-342900">
              <a:buAutoNum type="arabicPeriod"/>
            </a:pPr>
            <a:r>
              <a:rPr b="1"/>
              <a:t>解释阶段</a:t>
            </a:r>
            <a:r>
              <a:t>：计算SHAP值，生成解释</a:t>
            </a:r>
          </a:p>
          <a:p>
            <a:pPr marL="685800" lvl="1" indent="-342900">
              <a:buAutoNum type="arabicPeriod"/>
            </a:pPr>
            <a:r>
              <a:rPr b="1"/>
              <a:t>输出阶段</a:t>
            </a:r>
            <a:r>
              <a:t>：将结果和解释返回给UI展示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8F650-B149-9573-7FB7-93416FC6A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3.2 系统架构详解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数据流程设计：</a:t>
            </a:r>
          </a:p>
          <a:p>
            <a:pPr lvl="0"/>
            <a:r>
              <a:rPr b="1"/>
              <a:t>数据处理流程</a:t>
            </a:r>
            <a:r>
              <a:t>：</a:t>
            </a:r>
          </a:p>
          <a:p>
            <a:pPr lvl="1"/>
            <a:r>
              <a:t>数值变量：直接使用用户输入值</a:t>
            </a:r>
          </a:p>
          <a:p>
            <a:pPr lvl="1"/>
            <a:r>
              <a:t>分类变量：进行独热编码转换</a:t>
            </a:r>
          </a:p>
          <a:p>
            <a:pPr lvl="1"/>
            <a:r>
              <a:t>特征顺序：严格按照模型训练时的顺序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DC32D4-CEF0-6328-FB9C-0347325EA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详细设计与实现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9EE802B-5B18-36F2-3ECD-5AF8DFF8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4.1 项目结构设计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 dirty="0" err="1"/>
              <a:t>目录结构</a:t>
            </a:r>
            <a:r>
              <a:rPr b="1" dirty="0"/>
              <a:t>：</a:t>
            </a:r>
          </a:p>
          <a:p>
            <a:pPr lvl="0" indent="0">
              <a:buNone/>
            </a:pPr>
            <a:r>
              <a:rPr dirty="0" err="1"/>
              <a:t>shiny_app_ic_model</a:t>
            </a:r>
            <a:r>
              <a:rPr dirty="0"/>
              <a:t>/
├── model/                  # </a:t>
            </a:r>
            <a:r>
              <a:rPr dirty="0" err="1"/>
              <a:t>模型存储目录</a:t>
            </a:r>
            <a:r>
              <a:rPr dirty="0"/>
              <a:t>
│   └── </a:t>
            </a:r>
            <a:r>
              <a:rPr dirty="0" err="1"/>
              <a:t>xgb_booster.rds</a:t>
            </a:r>
            <a:r>
              <a:rPr dirty="0"/>
              <a:t>     # </a:t>
            </a:r>
            <a:r>
              <a:rPr dirty="0" err="1"/>
              <a:t>预训练的XGBoost模型</a:t>
            </a:r>
            <a:r>
              <a:rPr dirty="0"/>
              <a:t>
├── </a:t>
            </a:r>
            <a:r>
              <a:rPr dirty="0" err="1"/>
              <a:t>rsconnect</a:t>
            </a:r>
            <a:r>
              <a:rPr dirty="0"/>
              <a:t>/              # </a:t>
            </a:r>
            <a:r>
              <a:rPr dirty="0" err="1"/>
              <a:t>部署配置</a:t>
            </a:r>
            <a:r>
              <a:rPr dirty="0"/>
              <a:t>
│   └── </a:t>
            </a:r>
            <a:r>
              <a:rPr dirty="0" err="1"/>
              <a:t>shinyapps.io</a:t>
            </a:r>
            <a:r>
              <a:rPr dirty="0"/>
              <a:t>/       # </a:t>
            </a:r>
            <a:r>
              <a:rPr dirty="0" err="1"/>
              <a:t>shinyapps.io配置</a:t>
            </a:r>
            <a:r>
              <a:rPr dirty="0"/>
              <a:t>
├── </a:t>
            </a:r>
            <a:r>
              <a:rPr dirty="0" err="1"/>
              <a:t>global.R</a:t>
            </a:r>
            <a:r>
              <a:rPr dirty="0"/>
              <a:t>                # </a:t>
            </a:r>
            <a:r>
              <a:rPr dirty="0" err="1"/>
              <a:t>全局配置和模型加载</a:t>
            </a:r>
            <a:r>
              <a:rPr dirty="0"/>
              <a:t>
├── </a:t>
            </a:r>
            <a:r>
              <a:rPr dirty="0" err="1"/>
              <a:t>server.R</a:t>
            </a:r>
            <a:r>
              <a:rPr dirty="0"/>
              <a:t>                # </a:t>
            </a:r>
            <a:r>
              <a:rPr dirty="0" err="1"/>
              <a:t>服务器逻辑</a:t>
            </a:r>
            <a:r>
              <a:rPr dirty="0"/>
              <a:t>
└── </a:t>
            </a:r>
            <a:r>
              <a:rPr dirty="0" err="1"/>
              <a:t>ui.R</a:t>
            </a:r>
            <a:r>
              <a:rPr dirty="0"/>
              <a:t>                    # </a:t>
            </a:r>
            <a:r>
              <a:rPr dirty="0" err="1"/>
              <a:t>用户界面定义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45173-8249-ED45-BCA7-B0D4E6227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4.1 项目结构设计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核心文件功能：</a:t>
            </a:r>
          </a:p>
          <a:p>
            <a:pPr lvl="0"/>
            <a:r>
              <a:t>global.R：模型加载、特征定义、共享函数</a:t>
            </a:r>
          </a:p>
          <a:p>
            <a:pPr lvl="0"/>
            <a:r>
              <a:t>ui.R：输入控件、结果展示、布局设计</a:t>
            </a:r>
          </a:p>
          <a:p>
            <a:pPr lvl="0"/>
            <a:r>
              <a:t>server.R：事件处理、预测计算、结果生成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2771A-A147-51D3-0CB2-D3080B18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/>
              <a:t>输入模块：</a:t>
            </a:r>
          </a:p>
          <a:p>
            <a:pPr lvl="0"/>
            <a:r>
              <a:rPr b="1"/>
              <a:t>实现方案</a:t>
            </a:r>
            <a:r>
              <a:t>：</a:t>
            </a:r>
          </a:p>
          <a:p>
            <a:pPr lvl="1"/>
            <a:r>
              <a:t>使用标签页组织不同类别的输入</a:t>
            </a:r>
          </a:p>
          <a:p>
            <a:pPr lvl="1"/>
            <a:r>
              <a:t>为每个输入控件设置合理的默认值和范围</a:t>
            </a:r>
          </a:p>
          <a:p>
            <a:pPr lvl="1"/>
            <a:r>
              <a:t>提供清晰的参数说明和单位</a:t>
            </a:r>
          </a:p>
          <a:p>
            <a:pPr lvl="0"/>
            <a:r>
              <a:rPr b="1"/>
              <a:t>输入分类</a:t>
            </a:r>
            <a:r>
              <a:t>：</a:t>
            </a:r>
          </a:p>
          <a:p>
            <a:pPr lvl="1"/>
            <a:r>
              <a:rPr b="1"/>
              <a:t>基本信息</a:t>
            </a:r>
            <a:r>
              <a:t>：年龄、识字能力、教育水平等</a:t>
            </a:r>
          </a:p>
          <a:p>
            <a:pPr lvl="1"/>
            <a:r>
              <a:rPr b="1"/>
              <a:t>健康状况</a:t>
            </a:r>
            <a:r>
              <a:t>：血红蛋白、甘油三酯、尿酸等</a:t>
            </a:r>
          </a:p>
          <a:p>
            <a:pPr lvl="1"/>
            <a:r>
              <a:rPr b="1"/>
              <a:t>生活方式</a:t>
            </a:r>
            <a:r>
              <a:t>：吸烟情况、社会活动、满意度等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219798-0EF9-DAD7-D8BC-B0960BE6B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/>
              <a:t>预测模块：</a:t>
            </a:r>
          </a:p>
          <a:p>
            <a:pPr lvl="0"/>
            <a:r>
              <a:rPr b="1"/>
              <a:t>设计目标</a:t>
            </a:r>
            <a:r>
              <a:t>：</a:t>
            </a:r>
          </a:p>
          <a:p>
            <a:pPr lvl="1"/>
            <a:r>
              <a:t>准确执行模型预测</a:t>
            </a:r>
          </a:p>
          <a:p>
            <a:pPr lvl="1"/>
            <a:r>
              <a:t>高效处理输入数据</a:t>
            </a:r>
          </a:p>
          <a:p>
            <a:pPr lvl="1"/>
            <a:r>
              <a:t>确保预测结果的一致性</a:t>
            </a:r>
          </a:p>
          <a:p>
            <a:pPr lvl="0"/>
            <a:r>
              <a:rPr b="1"/>
              <a:t>实现方案</a:t>
            </a:r>
            <a:r>
              <a:t>：</a:t>
            </a:r>
          </a:p>
          <a:p>
            <a:pPr lvl="1"/>
            <a:r>
              <a:t>在global.R中预加载模型，避免重复加载</a:t>
            </a:r>
          </a:p>
          <a:p>
            <a:pPr lvl="1"/>
            <a:r>
              <a:t>构建与模型训练时一致的特征向量</a:t>
            </a:r>
          </a:p>
          <a:p>
            <a:pPr lvl="1"/>
            <a:r>
              <a:t>正确处理分类变量的独热编码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9D3292-2BC0-6CFF-047D-3C7E02397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预测模块：</a:t>
            </a:r>
          </a:p>
          <a:p>
            <a:pPr lvl="0"/>
            <a:r>
              <a:rPr b="1"/>
              <a:t>核心流程</a:t>
            </a:r>
            <a:r>
              <a:t>：</a:t>
            </a:r>
          </a:p>
          <a:p>
            <a:pPr marL="685800" lvl="1" indent="-342900">
              <a:buAutoNum type="arabicPeriod"/>
            </a:pPr>
            <a:r>
              <a:t>接收用户输入</a:t>
            </a:r>
          </a:p>
          <a:p>
            <a:pPr marL="685800" lvl="1" indent="-342900">
              <a:buAutoNum type="arabicPeriod"/>
            </a:pPr>
            <a:r>
              <a:t>构建特征向量</a:t>
            </a:r>
          </a:p>
          <a:p>
            <a:pPr marL="685800" lvl="1" indent="-342900">
              <a:buAutoNum type="arabicPeriod"/>
            </a:pPr>
            <a:r>
              <a:t>执行模型预测</a:t>
            </a:r>
          </a:p>
          <a:p>
            <a:pPr marL="685800" lvl="1" indent="-342900">
              <a:buAutoNum type="arabicPeriod"/>
            </a:pPr>
            <a:r>
              <a:t>返回预测结果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D7E00F-4A58-90E5-6598-2465B97F0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/>
              <a:t>解释模块：</a:t>
            </a:r>
          </a:p>
          <a:p>
            <a:pPr lvl="0"/>
            <a:r>
              <a:rPr b="1"/>
              <a:t>设计目标</a:t>
            </a:r>
            <a:r>
              <a:t>：</a:t>
            </a:r>
          </a:p>
          <a:p>
            <a:pPr lvl="1"/>
            <a:r>
              <a:t>提供预测结果的可解释性</a:t>
            </a:r>
          </a:p>
          <a:p>
            <a:pPr lvl="1"/>
            <a:r>
              <a:t>支持全局和个体水平的解释</a:t>
            </a:r>
          </a:p>
          <a:p>
            <a:pPr lvl="1"/>
            <a:r>
              <a:t>使用可视化增强解释效果</a:t>
            </a:r>
          </a:p>
          <a:p>
            <a:pPr lvl="0"/>
            <a:r>
              <a:rPr b="1"/>
              <a:t>实现方案</a:t>
            </a:r>
            <a:r>
              <a:t>：</a:t>
            </a:r>
          </a:p>
          <a:p>
            <a:pPr lvl="1"/>
            <a:r>
              <a:t>使用SHAP值计算特征贡献</a:t>
            </a:r>
          </a:p>
          <a:p>
            <a:pPr lvl="1"/>
            <a:r>
              <a:t>生成瀑布图展示个体预测解释</a:t>
            </a:r>
          </a:p>
          <a:p>
            <a:pPr lvl="1"/>
            <a:r>
              <a:t>提供全局特征重要性分析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AC5D60-106A-6488-383A-92275AAF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4.2 核心模块设计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解释模块：</a:t>
            </a:r>
          </a:p>
          <a:p>
            <a:pPr lvl="0"/>
            <a:r>
              <a:rPr b="1"/>
              <a:t>解释方法：</a:t>
            </a:r>
          </a:p>
          <a:p>
            <a:pPr lvl="1"/>
            <a:r>
              <a:t>SHAP值：基于博弈论的特征归因方法</a:t>
            </a:r>
          </a:p>
          <a:p>
            <a:pPr lvl="1"/>
            <a:r>
              <a:t>瀑布图：展示每个特征对预测结果的贡献</a:t>
            </a:r>
          </a:p>
          <a:p>
            <a:pPr lvl="1"/>
            <a:r>
              <a:t>特征重要性：全局视角的特征影响分析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238D85-A734-49DA-AB79-10C873953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4.3 UI设计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/>
              <a:t>界面布局：</a:t>
            </a:r>
          </a:p>
          <a:p>
            <a:pPr lvl="0"/>
            <a:r>
              <a:rPr b="1"/>
              <a:t>布局结构</a:t>
            </a:r>
            <a:r>
              <a:t>：</a:t>
            </a:r>
          </a:p>
          <a:p>
            <a:pPr lvl="1"/>
            <a:r>
              <a:rPr b="1"/>
              <a:t>顶部</a:t>
            </a:r>
            <a:r>
              <a:t>：应用标题和说明</a:t>
            </a:r>
          </a:p>
          <a:p>
            <a:pPr lvl="1"/>
            <a:r>
              <a:rPr b="1"/>
              <a:t>左侧</a:t>
            </a:r>
            <a:r>
              <a:t>：输入参数表单（占40%宽度）</a:t>
            </a:r>
          </a:p>
          <a:p>
            <a:pPr lvl="1"/>
            <a:r>
              <a:rPr b="1"/>
              <a:t>右侧</a:t>
            </a:r>
            <a:r>
              <a:t>：结果展示区域（占60%宽度）</a:t>
            </a:r>
          </a:p>
          <a:p>
            <a:pPr lvl="0"/>
            <a:r>
              <a:rPr b="1"/>
              <a:t>交互设计</a:t>
            </a:r>
            <a:r>
              <a:t>：</a:t>
            </a:r>
          </a:p>
          <a:p>
            <a:pPr lvl="1"/>
            <a:r>
              <a:t>使用标签页组织输入参数</a:t>
            </a:r>
          </a:p>
          <a:p>
            <a:pPr lvl="1"/>
            <a:r>
              <a:t>提供明显的预测按钮</a:t>
            </a:r>
          </a:p>
          <a:p>
            <a:pPr lvl="1"/>
            <a:r>
              <a:t>实时更新结果和可视化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3C5ABE-1A6B-C2B9-57F4-6323B5FEBB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4.3 UI设计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lvl="0" indent="0">
              <a:buNone/>
            </a:pPr>
            <a:r>
              <a:rPr b="1"/>
              <a:t>视觉设计：</a:t>
            </a:r>
          </a:p>
          <a:p>
            <a:pPr lvl="0"/>
            <a:r>
              <a:rPr b="1"/>
              <a:t>主题选择</a:t>
            </a:r>
            <a:r>
              <a:t>：</a:t>
            </a:r>
          </a:p>
          <a:p>
            <a:pPr lvl="1"/>
            <a:r>
              <a:t>使用Bootstrap 5的”flatly”主题</a:t>
            </a:r>
          </a:p>
          <a:p>
            <a:pPr lvl="1"/>
            <a:r>
              <a:t>简洁现代的配色方案</a:t>
            </a:r>
          </a:p>
          <a:p>
            <a:pPr lvl="1"/>
            <a:r>
              <a:t>适合医疗健康应用的专业感</a:t>
            </a:r>
          </a:p>
          <a:p>
            <a:pPr lvl="0"/>
            <a:r>
              <a:rPr b="1"/>
              <a:t>字体配置</a:t>
            </a:r>
            <a:r>
              <a:t>：</a:t>
            </a:r>
          </a:p>
          <a:p>
            <a:pPr lvl="1"/>
            <a:r>
              <a:t>启用中文字体支持（Noto Sans SC）</a:t>
            </a:r>
          </a:p>
          <a:p>
            <a:pPr lvl="1"/>
            <a:r>
              <a:t>确保图表和文本的字体一致性</a:t>
            </a:r>
          </a:p>
          <a:p>
            <a:pPr lvl="1"/>
            <a:r>
              <a:t>优化不同设备的显示效果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F909F-4862-8768-EBD5-E10D72579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4.4 服务器逻辑设计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1" y="1606551"/>
            <a:ext cx="7921726" cy="3079748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sz="1200" b="1" dirty="0" err="1">
                <a:ea typeface="Microsoft YaHei" panose="020B0503020204020204" pitchFamily="34" charset="-122"/>
              </a:rPr>
              <a:t>事件处理</a:t>
            </a:r>
            <a:r>
              <a:rPr sz="1200" b="1" dirty="0">
                <a:ea typeface="Microsoft YaHei" panose="020B0503020204020204" pitchFamily="34" charset="-122"/>
              </a:rPr>
              <a:t>：</a:t>
            </a:r>
          </a:p>
          <a:p>
            <a:pPr lvl="0"/>
            <a:r>
              <a:rPr sz="1200" b="1" dirty="0" err="1">
                <a:ea typeface="Microsoft YaHei" panose="020B0503020204020204" pitchFamily="34" charset="-122"/>
              </a:rPr>
              <a:t>核心事件</a:t>
            </a:r>
            <a:r>
              <a:rPr sz="1200" dirty="0">
                <a:ea typeface="Microsoft YaHei" panose="020B0503020204020204" pitchFamily="34" charset="-122"/>
              </a:rPr>
              <a:t>：</a:t>
            </a:r>
          </a:p>
          <a:p>
            <a:pPr lvl="1"/>
            <a:r>
              <a:rPr sz="1200" dirty="0" err="1">
                <a:ea typeface="Microsoft YaHei" panose="020B0503020204020204" pitchFamily="34" charset="-122"/>
              </a:rPr>
              <a:t>预测按钮点击事件</a:t>
            </a:r>
            <a:endParaRPr sz="1200" dirty="0">
              <a:ea typeface="Microsoft YaHei" panose="020B0503020204020204" pitchFamily="34" charset="-122"/>
            </a:endParaRPr>
          </a:p>
          <a:p>
            <a:pPr lvl="1"/>
            <a:r>
              <a:rPr sz="1200" dirty="0" err="1">
                <a:ea typeface="Microsoft YaHei" panose="020B0503020204020204" pitchFamily="34" charset="-122"/>
              </a:rPr>
              <a:t>输入参数变化事件</a:t>
            </a:r>
            <a:endParaRPr sz="1200" dirty="0">
              <a:ea typeface="Microsoft YaHei" panose="020B0503020204020204" pitchFamily="34" charset="-122"/>
            </a:endParaRPr>
          </a:p>
          <a:p>
            <a:pPr lvl="1"/>
            <a:r>
              <a:rPr sz="1200" dirty="0" err="1">
                <a:ea typeface="Microsoft YaHei" panose="020B0503020204020204" pitchFamily="34" charset="-122"/>
              </a:rPr>
              <a:t>应用初始化事件</a:t>
            </a:r>
            <a:endParaRPr lang="en-CN" sz="1200" dirty="0">
              <a:ea typeface="Microsoft YaHei" panose="020B0503020204020204" pitchFamily="34" charset="-122"/>
            </a:endParaRPr>
          </a:p>
          <a:p>
            <a:pPr lvl="0"/>
            <a:r>
              <a:rPr lang="zh-CN" altLang="en-US" sz="1200" b="1" dirty="0">
                <a:ea typeface="Microsoft YaHei" panose="020B0503020204020204" pitchFamily="34" charset="-122"/>
              </a:rPr>
              <a:t>事件处理流程</a:t>
            </a:r>
            <a:r>
              <a:rPr lang="zh-CN" altLang="en-US" sz="1200" dirty="0">
                <a:ea typeface="Microsoft YaHei" panose="020B0503020204020204" pitchFamily="34" charset="-122"/>
              </a:rPr>
              <a:t>：</a:t>
            </a:r>
          </a:p>
          <a:p>
            <a:pPr marL="685800" lvl="1" indent="-342900">
              <a:buAutoNum type="arabicPeriod"/>
            </a:pPr>
            <a:r>
              <a:rPr lang="zh-CN" altLang="en-US" sz="1200" dirty="0">
                <a:ea typeface="Microsoft YaHei" panose="020B0503020204020204" pitchFamily="34" charset="-122"/>
              </a:rPr>
              <a:t>监听用户点击预测按钮</a:t>
            </a:r>
          </a:p>
          <a:p>
            <a:pPr marL="685800" lvl="1" indent="-342900">
              <a:buAutoNum type="arabicPeriod"/>
            </a:pPr>
            <a:r>
              <a:rPr lang="zh-CN" altLang="en-US" sz="1200" dirty="0">
                <a:ea typeface="Microsoft YaHei" panose="020B0503020204020204" pitchFamily="34" charset="-122"/>
              </a:rPr>
              <a:t>收集所有输入参数</a:t>
            </a:r>
          </a:p>
          <a:p>
            <a:pPr marL="685800" lvl="1" indent="-342900">
              <a:buAutoNum type="arabicPeriod"/>
            </a:pPr>
            <a:r>
              <a:rPr lang="zh-CN" altLang="en-US" sz="1200" dirty="0">
                <a:ea typeface="Microsoft YaHei" panose="020B0503020204020204" pitchFamily="34" charset="-122"/>
              </a:rPr>
              <a:t>构建特征向量</a:t>
            </a:r>
          </a:p>
          <a:p>
            <a:pPr marL="685800" lvl="1" indent="-342900">
              <a:buAutoNum type="arabicPeriod"/>
            </a:pPr>
            <a:r>
              <a:rPr lang="zh-CN" altLang="en-US" sz="1200" dirty="0">
                <a:ea typeface="Microsoft YaHei" panose="020B0503020204020204" pitchFamily="34" charset="-122"/>
              </a:rPr>
              <a:t>执行预测和解释</a:t>
            </a:r>
          </a:p>
          <a:p>
            <a:pPr marL="685800" lvl="1" indent="-342900">
              <a:buAutoNum type="arabicPeriod"/>
            </a:pPr>
            <a:r>
              <a:rPr lang="zh-CN" altLang="en-US" sz="1200" dirty="0">
                <a:ea typeface="Microsoft YaHei" panose="020B0503020204020204" pitchFamily="34" charset="-122"/>
              </a:rPr>
              <a:t>更新</a:t>
            </a:r>
            <a:r>
              <a:rPr lang="en-US" sz="1200" dirty="0">
                <a:ea typeface="Microsoft YaHei" panose="020B0503020204020204" pitchFamily="34" charset="-122"/>
              </a:rPr>
              <a:t>UI</a:t>
            </a:r>
            <a:r>
              <a:rPr lang="zh-CN" altLang="en-US" sz="1200" dirty="0">
                <a:ea typeface="Microsoft YaHei" panose="020B0503020204020204" pitchFamily="34" charset="-122"/>
              </a:rPr>
              <a:t>展示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FCBA53-FAB1-422C-092E-E21101D5BA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4.4 </a:t>
            </a:r>
            <a:r>
              <a:rPr b="1" dirty="0" err="1"/>
              <a:t>服务器逻辑设计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性能优化：</a:t>
            </a:r>
          </a:p>
          <a:p>
            <a:pPr lvl="0"/>
            <a:r>
              <a:rPr b="1"/>
              <a:t>优化策略</a:t>
            </a:r>
            <a:r>
              <a:t>：</a:t>
            </a:r>
          </a:p>
          <a:p>
            <a:pPr lvl="1"/>
            <a:r>
              <a:t>仅在用户点击预测时执行计算</a:t>
            </a:r>
          </a:p>
          <a:p>
            <a:pPr lvl="1"/>
            <a:r>
              <a:t>预加载模型和资源</a:t>
            </a:r>
          </a:p>
          <a:p>
            <a:pPr lvl="1"/>
            <a:r>
              <a:t>优化图表渲染性能</a:t>
            </a:r>
          </a:p>
          <a:p>
            <a:pPr lvl="1"/>
            <a:r>
              <a:t>避免不必要的计算和重绘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2CB1E3-FC16-1B08-2956-A622FE73C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部署与运维设计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90C82EE-D04A-3B63-FA83-A40093C5E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5.1 部署架构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部署目标：</a:t>
            </a:r>
          </a:p>
          <a:p>
            <a:pPr lvl="0"/>
            <a:r>
              <a:t>确保应用稳定运行</a:t>
            </a:r>
          </a:p>
          <a:p>
            <a:pPr lvl="0"/>
            <a:r>
              <a:t>支持快速更新和回滚</a:t>
            </a:r>
          </a:p>
          <a:p>
            <a:pPr lvl="0"/>
            <a:r>
              <a:t>提供可靠的访问体验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B3606-9C8F-11F2-2CD8-55703A6B1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5.1 部署架构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b="1" dirty="0" err="1"/>
              <a:t>部署方案</a:t>
            </a:r>
            <a:r>
              <a:rPr b="1" dirty="0"/>
              <a:t>：</a:t>
            </a:r>
          </a:p>
          <a:p>
            <a:pPr lvl="0"/>
            <a:r>
              <a:rPr b="1" dirty="0" err="1"/>
              <a:t>平台选择</a:t>
            </a:r>
            <a:r>
              <a:rPr dirty="0" err="1"/>
              <a:t>：shinyapps.io</a:t>
            </a:r>
            <a:endParaRPr dirty="0"/>
          </a:p>
          <a:p>
            <a:pPr lvl="0"/>
            <a:r>
              <a:rPr b="1" dirty="0" err="1"/>
              <a:t>部署流程</a:t>
            </a:r>
            <a:r>
              <a:rPr dirty="0"/>
              <a:t>：</a:t>
            </a:r>
          </a:p>
          <a:p>
            <a:pPr marL="685800" lvl="1" indent="-342900">
              <a:buAutoNum type="arabicPeriod"/>
            </a:pPr>
            <a:r>
              <a:rPr dirty="0" err="1"/>
              <a:t>安装rsconnect包</a:t>
            </a:r>
            <a:endParaRPr dirty="0"/>
          </a:p>
          <a:p>
            <a:pPr marL="685800" lvl="1" indent="-342900">
              <a:buAutoNum type="arabicPeriod"/>
            </a:pPr>
            <a:r>
              <a:rPr dirty="0" err="1"/>
              <a:t>配置shinyapps.io账户</a:t>
            </a:r>
            <a:endParaRPr dirty="0"/>
          </a:p>
          <a:p>
            <a:pPr marL="685800" lvl="1" indent="-342900">
              <a:buAutoNum type="arabicPeriod"/>
            </a:pPr>
            <a:r>
              <a:rPr dirty="0" err="1"/>
              <a:t>执行部署命令</a:t>
            </a:r>
            <a:endParaRPr dirty="0"/>
          </a:p>
          <a:p>
            <a:pPr marL="685800" lvl="1" indent="-342900">
              <a:buAutoNum type="arabicPeriod"/>
            </a:pPr>
            <a:r>
              <a:rPr dirty="0" err="1"/>
              <a:t>验证部署结果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242278-9CDB-4675-8B48-DB697F383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5.1 部署架构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部署配置：</a:t>
            </a:r>
          </a:p>
          <a:p>
            <a:pPr lvl="0"/>
            <a:r>
              <a:t>应用元数据管理</a:t>
            </a:r>
          </a:p>
          <a:p>
            <a:pPr lvl="0"/>
            <a:r>
              <a:t>依赖包版本控制</a:t>
            </a:r>
          </a:p>
          <a:p>
            <a:pPr lvl="0"/>
            <a:r>
              <a:t>部署环境配置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1A4CFE-4A2C-0350-3DDC-C1FAC7AF2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44</a:t>
            </a:fld>
            <a:endParaRPr lang="en-US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5.2 依赖管理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核心依赖：</a:t>
            </a:r>
          </a:p>
          <a:p>
            <a:pPr lvl="0"/>
            <a:r>
              <a:t>shiny：Web应用框架</a:t>
            </a:r>
          </a:p>
          <a:p>
            <a:pPr lvl="0"/>
            <a:r>
              <a:t>xgboost：预测模型</a:t>
            </a:r>
          </a:p>
          <a:p>
            <a:pPr lvl="0"/>
            <a:r>
              <a:t>ggplot2：数据可视化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62A86-34A4-FB1A-9DF7-E95E559638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45</a:t>
            </a:fld>
            <a:endParaRPr lang="en-US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5.2 依赖管理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核心依赖：</a:t>
            </a:r>
          </a:p>
          <a:p>
            <a:pPr lvl="0"/>
            <a:r>
              <a:t>bslib：Bootstrap主题</a:t>
            </a:r>
          </a:p>
          <a:p>
            <a:pPr lvl="0"/>
            <a:r>
              <a:t>shapviz：SHAP值可视化</a:t>
            </a:r>
          </a:p>
          <a:p>
            <a:pPr lvl="0"/>
            <a:r>
              <a:t>showtext：中文字体支持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BC84A2-3CF0-2C6C-0DF2-10B5EC4BC0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5.2 依赖管理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 err="1"/>
              <a:t>依赖管理策略</a:t>
            </a:r>
            <a:r>
              <a:rPr b="1" dirty="0"/>
              <a:t>：</a:t>
            </a:r>
          </a:p>
          <a:p>
            <a:pPr lvl="0"/>
            <a:r>
              <a:rPr dirty="0" err="1"/>
              <a:t>使用rsconnect</a:t>
            </a:r>
            <a:r>
              <a:rPr dirty="0"/>
              <a:t>::</a:t>
            </a:r>
            <a:r>
              <a:rPr dirty="0" err="1"/>
              <a:t>appDependencies</a:t>
            </a:r>
            <a:r>
              <a:rPr dirty="0"/>
              <a:t>()</a:t>
            </a:r>
            <a:r>
              <a:rPr dirty="0" err="1"/>
              <a:t>检查依赖</a:t>
            </a:r>
            <a:endParaRPr dirty="0"/>
          </a:p>
          <a:p>
            <a:pPr lvl="0"/>
            <a:r>
              <a:rPr dirty="0" err="1"/>
              <a:t>考虑使用renv或packrat管理依赖版本</a:t>
            </a:r>
            <a:endParaRPr dirty="0"/>
          </a:p>
          <a:p>
            <a:pPr lvl="0"/>
            <a:r>
              <a:rPr dirty="0" err="1"/>
              <a:t>记录依赖版本，确保可重现性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C2BC9-E5E3-228C-AD5C-C45D4ACBF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47</a:t>
            </a:fld>
            <a:endParaRPr lang="en-US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5.3 监控与维护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监控重点：</a:t>
            </a:r>
          </a:p>
          <a:p>
            <a:pPr lvl="0"/>
            <a:r>
              <a:t>应用可用性</a:t>
            </a:r>
          </a:p>
          <a:p>
            <a:pPr lvl="0"/>
            <a:r>
              <a:t>响应时间</a:t>
            </a:r>
          </a:p>
          <a:p>
            <a:pPr lvl="0"/>
            <a:r>
              <a:t>错误率</a:t>
            </a:r>
          </a:p>
          <a:p>
            <a:pPr lvl="0"/>
            <a:r>
              <a:t>资源使用情况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AD2986-D8DB-04DA-330F-3772BB663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5.3 监控与维护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维护计划：</a:t>
            </a:r>
          </a:p>
          <a:p>
            <a:pPr lvl="0"/>
            <a:r>
              <a:t>定期更新依赖包</a:t>
            </a:r>
          </a:p>
          <a:p>
            <a:pPr lvl="0"/>
            <a:r>
              <a:t>监控模型性能，必要时重新训练</a:t>
            </a:r>
          </a:p>
          <a:p>
            <a:pPr lvl="0"/>
            <a:r>
              <a:t>收集用户反馈，持续改进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C7B468-5AFF-21DF-2994-317E97E6D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49</a:t>
            </a:fld>
            <a:endParaRPr lang="en-US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Vibe Coding开发范式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C6E17B-AA85-7C7B-C932-84AB86AA61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50</a:t>
            </a:fld>
            <a:endParaRPr lang="en-US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6.1 定义：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Vibe Coding 是一种创新的开发范式，结合了 AI 辅助编程和传统开发流程</a:t>
            </a:r>
          </a:p>
          <a:p>
            <a:pPr lvl="0"/>
            <a:r>
              <a:t>强调开发者与 AI 助手之间的协作与互动</a:t>
            </a:r>
          </a:p>
          <a:p>
            <a:pPr lvl="0"/>
            <a:r>
              <a:t>注重代码质量、开发效率和开发者体验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50DDB-E87F-C933-175A-6A55D953E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51</a:t>
            </a:fld>
            <a:endParaRPr lang="en-US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6.2 在 Trae IDE 中的实践：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使用 Trae IDE 作为开发环境，享受集成的 AI 辅助功能</a:t>
            </a:r>
          </a:p>
          <a:p>
            <a:pPr lvl="0"/>
            <a:r>
              <a:t>通过自然语言描述需求，快速生成代码框架</a:t>
            </a:r>
          </a:p>
          <a:p>
            <a:pPr lvl="0"/>
            <a:r>
              <a:t>实时获取代码建议和优化方案</a:t>
            </a:r>
          </a:p>
          <a:p>
            <a:pPr lvl="0"/>
            <a:r>
              <a:t>智能处理错误和异常情况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AD5C5-FB21-0DEB-F7AA-D2B0FF090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52</a:t>
            </a:fld>
            <a:endParaRPr lang="en-US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6.3 开发流程：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rPr b="1" dirty="0" err="1"/>
              <a:t>需求分析</a:t>
            </a:r>
            <a:r>
              <a:rPr dirty="0" err="1"/>
              <a:t>：明确应用目标和功能需求</a:t>
            </a:r>
            <a:endParaRPr dirty="0"/>
          </a:p>
          <a:p>
            <a:pPr marL="342900" lvl="0" indent="-342900">
              <a:buAutoNum type="arabicPeriod"/>
            </a:pPr>
            <a:r>
              <a:rPr b="1" dirty="0" err="1"/>
              <a:t>架构设计</a:t>
            </a:r>
            <a:r>
              <a:rPr dirty="0" err="1"/>
              <a:t>：设计应用的整体架构和模块划分</a:t>
            </a:r>
            <a:endParaRPr dirty="0"/>
          </a:p>
          <a:p>
            <a:pPr marL="342900" lvl="0" indent="-342900">
              <a:buAutoNum type="arabicPeriod"/>
            </a:pPr>
            <a:r>
              <a:rPr b="1" dirty="0" err="1"/>
              <a:t>代码生成</a:t>
            </a:r>
            <a:r>
              <a:rPr dirty="0" err="1"/>
              <a:t>：基于架构设计生成初始代码</a:t>
            </a:r>
            <a:endParaRPr dirty="0"/>
          </a:p>
          <a:p>
            <a:pPr marL="342900" lvl="0" indent="-342900">
              <a:buAutoNum type="arabicPeriod"/>
            </a:pPr>
            <a:r>
              <a:rPr b="1" dirty="0" err="1"/>
              <a:t>迭代优化</a:t>
            </a:r>
            <a:r>
              <a:rPr dirty="0" err="1"/>
              <a:t>：通过</a:t>
            </a:r>
            <a:r>
              <a:rPr dirty="0"/>
              <a:t> AI </a:t>
            </a:r>
            <a:r>
              <a:rPr dirty="0" err="1"/>
              <a:t>建议和人工审核不断优化代码</a:t>
            </a:r>
            <a:endParaRPr dirty="0"/>
          </a:p>
          <a:p>
            <a:pPr marL="342900" lvl="0" indent="-342900">
              <a:buAutoNum type="arabicPeriod"/>
            </a:pPr>
            <a:r>
              <a:rPr b="1" dirty="0" err="1"/>
              <a:t>测试验证</a:t>
            </a:r>
            <a:r>
              <a:rPr dirty="0" err="1"/>
              <a:t>：确保应用功能正常和性能良好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F0EE2-13AF-48DF-EB68-ADE740A5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53</a:t>
            </a:fld>
            <a:endParaRPr lang="en-US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6.4 优势：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提高开发效率，减少重复工作</a:t>
            </a:r>
          </a:p>
          <a:p>
            <a:pPr lvl="0"/>
            <a:r>
              <a:t>降低技术门槛，适合不同水平的开发者</a:t>
            </a:r>
          </a:p>
          <a:p>
            <a:pPr lvl="0"/>
            <a:r>
              <a:t>保证代码质量和一致性</a:t>
            </a:r>
          </a:p>
          <a:p>
            <a:pPr lvl="0"/>
            <a:r>
              <a:t>促进创新和最佳实践的应用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6AB07-78E6-E2FD-C0A7-ADD062CC5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54</a:t>
            </a:fld>
            <a:endParaRPr lang="en-US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6.4 本应用的开发过程：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dirty="0" err="1"/>
              <a:t>全程在</a:t>
            </a:r>
            <a:r>
              <a:rPr dirty="0"/>
              <a:t> Trae IDE </a:t>
            </a:r>
            <a:r>
              <a:rPr dirty="0" err="1"/>
              <a:t>中采用</a:t>
            </a:r>
            <a:r>
              <a:rPr dirty="0"/>
              <a:t> Vibe Coding </a:t>
            </a:r>
            <a:r>
              <a:rPr dirty="0" err="1"/>
              <a:t>范式开发</a:t>
            </a:r>
            <a:endParaRPr dirty="0"/>
          </a:p>
          <a:p>
            <a:pPr lvl="0"/>
            <a:r>
              <a:rPr dirty="0" err="1"/>
              <a:t>从需求分析到最终部署，AI</a:t>
            </a:r>
            <a:r>
              <a:rPr dirty="0"/>
              <a:t> </a:t>
            </a:r>
            <a:r>
              <a:rPr dirty="0" err="1"/>
              <a:t>助手全程参与</a:t>
            </a:r>
            <a:endParaRPr dirty="0"/>
          </a:p>
          <a:p>
            <a:pPr lvl="0"/>
            <a:r>
              <a:rPr dirty="0" err="1"/>
              <a:t>快速迭代，不断优化用户体验和系统性能</a:t>
            </a:r>
            <a:endParaRPr dirty="0"/>
          </a:p>
          <a:p>
            <a:pPr lvl="0"/>
            <a:r>
              <a:rPr dirty="0" err="1"/>
              <a:t>确保代码的可维护性和扩展性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341E3-7FDB-E974-4598-D4F060355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EAEA3-68A1-28B8-64CE-FB1BB0FCB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FF5E5-1BE8-73B0-9820-DA2A210D07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b="1" dirty="0"/>
              <a:t>6</a:t>
            </a:r>
            <a:r>
              <a:rPr b="1" dirty="0"/>
              <a:t>.</a:t>
            </a:r>
            <a:r>
              <a:rPr lang="en-US" altLang="zh-CN" b="1" dirty="0"/>
              <a:t>5</a:t>
            </a:r>
            <a:r>
              <a:rPr b="1" dirty="0"/>
              <a:t> </a:t>
            </a:r>
            <a:r>
              <a:rPr b="1" dirty="0" err="1"/>
              <a:t>Shiny应用</a:t>
            </a:r>
            <a:r>
              <a:rPr lang="en-CN" b="1" dirty="0"/>
              <a:t>开发示例</a:t>
            </a:r>
            <a:r>
              <a:rPr lang="zh-CN" altLang="en-US" b="1" dirty="0"/>
              <a:t>：计算器</a:t>
            </a:r>
            <a:endParaRPr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EDFD7-ADD5-71AC-5C46-09495C522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CN" b="1" dirty="0"/>
              <a:t>应用设计</a:t>
            </a:r>
            <a:r>
              <a:rPr b="1" dirty="0"/>
              <a:t>：</a:t>
            </a:r>
          </a:p>
          <a:p>
            <a:pPr lvl="0"/>
            <a:r>
              <a:rPr lang="en-CN" dirty="0"/>
              <a:t>支持两个数字运算</a:t>
            </a:r>
            <a:endParaRPr dirty="0"/>
          </a:p>
          <a:p>
            <a:pPr lvl="0"/>
            <a:r>
              <a:rPr lang="en-CN" dirty="0"/>
              <a:t>支持加减乘除运算</a:t>
            </a:r>
          </a:p>
          <a:p>
            <a:pPr lvl="0"/>
            <a:r>
              <a:rPr lang="en-CN" dirty="0"/>
              <a:t>左边输入数字</a:t>
            </a:r>
            <a:r>
              <a:rPr lang="zh-CN" altLang="en-US" dirty="0"/>
              <a:t>，右侧出结果</a:t>
            </a:r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E6081-CC3F-F322-BA2E-41EDF9C96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555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76E20-89C3-5FB5-997D-158AB62F4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3997C-F293-2E9C-B642-9C910CDEF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altLang="zh-CN" b="1" dirty="0"/>
              <a:t>6</a:t>
            </a:r>
            <a:r>
              <a:rPr b="1" dirty="0"/>
              <a:t>.</a:t>
            </a:r>
            <a:r>
              <a:rPr lang="en-US" altLang="zh-CN" b="1" dirty="0"/>
              <a:t>5</a:t>
            </a:r>
            <a:r>
              <a:rPr b="1" dirty="0"/>
              <a:t> </a:t>
            </a:r>
            <a:r>
              <a:rPr b="1" dirty="0" err="1"/>
              <a:t>Shiny应用</a:t>
            </a:r>
            <a:r>
              <a:rPr lang="en-CN" b="1" dirty="0"/>
              <a:t>开发示例</a:t>
            </a:r>
            <a:r>
              <a:rPr lang="zh-CN" altLang="en-US" b="1" dirty="0"/>
              <a:t>：计算器</a:t>
            </a:r>
            <a:endParaRPr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8EDBB-0425-9D57-2CBA-193BE30C8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57</a:t>
            </a:fld>
            <a:endParaRPr lang="en-US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3BA03BD-DFB2-7F71-C2B9-567947673A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46460" y="1606550"/>
            <a:ext cx="4735143" cy="273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7357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7. 参考资料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B14398-B896-E1CF-AC08-187C307F44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2" y="1203325"/>
            <a:ext cx="7598569" cy="2736850"/>
          </a:xfrm>
        </p:spPr>
        <p:txBody>
          <a:bodyPr>
            <a:normAutofit lnSpcReduction="10000"/>
          </a:bodyPr>
          <a:lstStyle/>
          <a:p>
            <a:pPr lvl="0"/>
            <a:r>
              <a:rPr dirty="0">
                <a:hlinkClick r:id="rId2"/>
              </a:rPr>
              <a:t>Shiny官方文档</a:t>
            </a:r>
          </a:p>
          <a:p>
            <a:pPr lvl="0"/>
            <a:r>
              <a:rPr dirty="0">
                <a:hlinkClick r:id="rId3"/>
              </a:rPr>
              <a:t>XGBoost文档</a:t>
            </a:r>
          </a:p>
          <a:p>
            <a:pPr lvl="0"/>
            <a:r>
              <a:rPr dirty="0">
                <a:hlinkClick r:id="rId4"/>
              </a:rPr>
              <a:t>SHAP值解释</a:t>
            </a:r>
          </a:p>
          <a:p>
            <a:pPr lvl="0"/>
            <a:r>
              <a:rPr dirty="0">
                <a:hlinkClick r:id="rId5"/>
              </a:rPr>
              <a:t>shinyapps.io部署指南</a:t>
            </a:r>
          </a:p>
          <a:p>
            <a:pPr lvl="0"/>
            <a:r>
              <a:rPr dirty="0">
                <a:hlinkClick r:id="rId6"/>
              </a:rPr>
              <a:t>R语言中文字体支持</a:t>
            </a:r>
          </a:p>
          <a:p>
            <a:pPr lvl="0"/>
            <a:r>
              <a:rPr dirty="0">
                <a:hlinkClick r:id="rId7"/>
              </a:rPr>
              <a:t>Vibe Coding官方文档</a:t>
            </a:r>
          </a:p>
          <a:p>
            <a:pPr lvl="0"/>
            <a:r>
              <a:rPr dirty="0">
                <a:hlinkClick r:id="rId8"/>
              </a:rPr>
              <a:t>Trae IDE使用指南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D21FC5C-31B2-D543-40C5-FE59307A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59</a:t>
            </a:fld>
            <a:endParaRPr lang="en-US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4BDD4-1AB0-C12B-0662-A9C5E9B58C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感谢聆听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29521-3D3D-F801-65F6-EEBF27F945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康瑞赋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5DD908-F22B-B0BC-5ACF-CAE755CFF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60</a:t>
            </a:fld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BB958A-87B3-1787-7D03-4405FCA86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2026-02-27</a:t>
            </a:r>
          </a:p>
        </p:txBody>
      </p:sp>
    </p:spTree>
    <p:extLst>
      <p:ext uri="{BB962C8B-B14F-4D97-AF65-F5344CB8AC3E}">
        <p14:creationId xmlns:p14="http://schemas.microsoft.com/office/powerpoint/2010/main" val="378227771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1339</TotalTime>
  <Words>1045</Words>
  <Application>Microsoft Macintosh PowerPoint</Application>
  <PresentationFormat>On-screen Show (16:9)</PresentationFormat>
  <Paragraphs>377</Paragraphs>
  <Slides>60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Microsoft YaHei</vt:lpstr>
      <vt:lpstr>Arial</vt:lpstr>
      <vt:lpstr>Celestial</vt:lpstr>
      <vt:lpstr>内在能力评估 Shiny应用构建教程</vt:lpstr>
      <vt:lpstr>Table of contents</vt:lpstr>
      <vt:lpstr>1. Shiny简介</vt:lpstr>
      <vt:lpstr>1.1 Shiny是什么</vt:lpstr>
      <vt:lpstr>1.1 Shiny是什么</vt:lpstr>
      <vt:lpstr>1.2 Shiny工作原理</vt:lpstr>
      <vt:lpstr>1.2 Shiny工作原理</vt:lpstr>
      <vt:lpstr>1.3 Shiny应用结构</vt:lpstr>
      <vt:lpstr>1.3 Shiny应用结构</vt:lpstr>
      <vt:lpstr>1.4 Shiny应用举例</vt:lpstr>
      <vt:lpstr>2. 应用顶层设计</vt:lpstr>
      <vt:lpstr>2.1 应用目标与功能定位</vt:lpstr>
      <vt:lpstr>2.1 应用目标与功能定位</vt:lpstr>
      <vt:lpstr>2.1 应用目标与功能定位</vt:lpstr>
      <vt:lpstr>2.2 整体架构设计</vt:lpstr>
      <vt:lpstr>2.2 整体架构设计</vt:lpstr>
      <vt:lpstr>2.3 核心设计原则</vt:lpstr>
      <vt:lpstr>2.3 核心设计原则</vt:lpstr>
      <vt:lpstr>2.3 核心设计原则</vt:lpstr>
      <vt:lpstr>3. 技术架构设计</vt:lpstr>
      <vt:lpstr>3.1 技术选型</vt:lpstr>
      <vt:lpstr>3.1 技术选型</vt:lpstr>
      <vt:lpstr>3.1 技术选型</vt:lpstr>
      <vt:lpstr>3.2 系统架构详解</vt:lpstr>
      <vt:lpstr>3.2 系统架构详解</vt:lpstr>
      <vt:lpstr>3.2 系统架构详解</vt:lpstr>
      <vt:lpstr>3.2 系统架构详解</vt:lpstr>
      <vt:lpstr>3.2 系统架构详解</vt:lpstr>
      <vt:lpstr>4. 详细设计与实现</vt:lpstr>
      <vt:lpstr>4.1 项目结构设计</vt:lpstr>
      <vt:lpstr>4.1 项目结构设计</vt:lpstr>
      <vt:lpstr>4.2 核心模块设计</vt:lpstr>
      <vt:lpstr>4.2 核心模块设计</vt:lpstr>
      <vt:lpstr>4.2 核心模块设计</vt:lpstr>
      <vt:lpstr>4.2 核心模块设计</vt:lpstr>
      <vt:lpstr>4.2 核心模块设计</vt:lpstr>
      <vt:lpstr>4.3 UI设计</vt:lpstr>
      <vt:lpstr>4.3 UI设计</vt:lpstr>
      <vt:lpstr>4.4 服务器逻辑设计</vt:lpstr>
      <vt:lpstr>4.4 服务器逻辑设计</vt:lpstr>
      <vt:lpstr>5. 部署与运维设计</vt:lpstr>
      <vt:lpstr>5.1 部署架构</vt:lpstr>
      <vt:lpstr>5.1 部署架构</vt:lpstr>
      <vt:lpstr>5.1 部署架构</vt:lpstr>
      <vt:lpstr>5.2 依赖管理</vt:lpstr>
      <vt:lpstr>5.2 依赖管理</vt:lpstr>
      <vt:lpstr>5.2 依赖管理</vt:lpstr>
      <vt:lpstr>5.3 监控与维护</vt:lpstr>
      <vt:lpstr>5.3 监控与维护</vt:lpstr>
      <vt:lpstr>6. Vibe Coding开发范式</vt:lpstr>
      <vt:lpstr>6.1 定义：</vt:lpstr>
      <vt:lpstr>6.2 在 Trae IDE 中的实践：</vt:lpstr>
      <vt:lpstr>6.3 开发流程：</vt:lpstr>
      <vt:lpstr>6.4 优势：</vt:lpstr>
      <vt:lpstr>6.4 本应用的开发过程：</vt:lpstr>
      <vt:lpstr>6.5 Shiny应用开发示例：计算器</vt:lpstr>
      <vt:lpstr>6.5 Shiny应用开发示例：计算器</vt:lpstr>
      <vt:lpstr>7. 参考资料</vt:lpstr>
      <vt:lpstr>PowerPoint Presentation</vt:lpstr>
      <vt:lpstr>感谢聆听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内在能力评估Shiny应用构建教程</dc:title>
  <dc:creator>康瑞赋</dc:creator>
  <cp:keywords/>
  <cp:lastModifiedBy>Ruifu Kang</cp:lastModifiedBy>
  <cp:revision>25</cp:revision>
  <dcterms:created xsi:type="dcterms:W3CDTF">2026-02-25T14:48:45Z</dcterms:created>
  <dcterms:modified xsi:type="dcterms:W3CDTF">2026-02-27T14:59:13Z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2026-02-27</vt:lpwstr>
  </property>
  <property fmtid="{D5CDD505-2E9C-101B-9397-08002B2CF9AE}" pid="6" name="header-includes">
    <vt:lpwstr/>
  </property>
  <property fmtid="{D5CDD505-2E9C-101B-9397-08002B2CF9AE}" pid="7" name="include-after">
    <vt:lpwstr/>
  </property>
  <property fmtid="{D5CDD505-2E9C-101B-9397-08002B2CF9AE}" pid="8" name="include-before">
    <vt:lpwstr/>
  </property>
  <property fmtid="{D5CDD505-2E9C-101B-9397-08002B2CF9AE}" pid="9" name="labels">
    <vt:lpwstr/>
  </property>
  <property fmtid="{D5CDD505-2E9C-101B-9397-08002B2CF9AE}" pid="10" name="slide-numbering">
    <vt:lpwstr>True</vt:lpwstr>
  </property>
  <property fmtid="{D5CDD505-2E9C-101B-9397-08002B2CF9AE}" pid="11" name="toc-title">
    <vt:lpwstr>Table of contents</vt:lpwstr>
  </property>
</Properties>
</file>