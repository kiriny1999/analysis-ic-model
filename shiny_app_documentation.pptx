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9" Type="http://schemas.openxmlformats.org/officeDocument/2006/relationships/viewProps" Target="viewProps.xml" /><Relationship Id="rId5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1" Type="http://schemas.openxmlformats.org/officeDocument/2006/relationships/tableStyles" Target="tableStyles.xml" /><Relationship Id="rId6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10.xml" /><Relationship Id="rId4" Type="http://schemas.openxmlformats.org/officeDocument/2006/relationships/slide" Target="slide19.xml" /><Relationship Id="rId5" Type="http://schemas.openxmlformats.org/officeDocument/2006/relationships/slide" Target="slide28.xml" /><Relationship Id="rId6" Type="http://schemas.openxmlformats.org/officeDocument/2006/relationships/slide" Target="slide40.xml" /><Relationship Id="rId7" Type="http://schemas.openxmlformats.org/officeDocument/2006/relationships/slide" Target="slide49.xml" /><Relationship Id="rId8" Type="http://schemas.openxmlformats.org/officeDocument/2006/relationships/slide" Target="slide55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hiny.posit.co/r/documentation/" TargetMode="External" /><Relationship Id="rId3" Type="http://schemas.openxmlformats.org/officeDocument/2006/relationships/hyperlink" Target="https://xgboost.readthedocs.io/en/stable/" TargetMode="External" /><Relationship Id="rId4" Type="http://schemas.openxmlformats.org/officeDocument/2006/relationships/hyperlink" Target="https://shap.readthedocs.io/en/latest/" TargetMode="External" /><Relationship Id="rId5" Type="http://schemas.openxmlformats.org/officeDocument/2006/relationships/hyperlink" Target="https://docs.posit.co/shinyapps.io/" TargetMode="External" /><Relationship Id="rId6" Type="http://schemas.openxmlformats.org/officeDocument/2006/relationships/hyperlink" Target="https://cran.r-project.org/web/packages/showtext/vignettes/introduction.html" TargetMode="External" /><Relationship Id="rId7" Type="http://schemas.openxmlformats.org/officeDocument/2006/relationships/hyperlink" Target="https://en.wikipedia.org/wiki/Vibe_coding?useskin=vector" TargetMode="External" /><Relationship Id="rId8" Type="http://schemas.openxmlformats.org/officeDocument/2006/relationships/hyperlink" Target="https://trae.ai/docs/ide-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内在能力评估Shiny应用构建教程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康瑞赋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1. Shiny简介</a:t>
            </a:r>
          </a:p>
          <a:p>
            <a:pPr lvl="0"/>
            <a:r>
              <a:rPr>
                <a:hlinkClick r:id="rId3" action="ppaction://hlinksldjump"/>
              </a:rPr>
              <a:t>2. 应用顶层设计</a:t>
            </a:r>
          </a:p>
          <a:p>
            <a:pPr lvl="0"/>
            <a:r>
              <a:rPr>
                <a:hlinkClick r:id="rId4" action="ppaction://hlinksldjump"/>
              </a:rPr>
              <a:t>3. 技术架构设计</a:t>
            </a:r>
          </a:p>
          <a:p>
            <a:pPr lvl="0"/>
            <a:r>
              <a:rPr>
                <a:hlinkClick r:id="rId5" action="ppaction://hlinksldjump"/>
              </a:rPr>
              <a:t>4. 详细设计与实现</a:t>
            </a:r>
          </a:p>
          <a:p>
            <a:pPr lvl="0"/>
            <a:r>
              <a:rPr>
                <a:hlinkClick r:id="rId6" action="ppaction://hlinksldjump"/>
              </a:rPr>
              <a:t>5. 部署与运维设计</a:t>
            </a:r>
          </a:p>
          <a:p>
            <a:pPr lvl="0"/>
            <a:r>
              <a:rPr>
                <a:hlinkClick r:id="rId7" action="ppaction://hlinksldjump"/>
              </a:rPr>
              <a:t>6. Vibe Coding开发范式</a:t>
            </a:r>
          </a:p>
          <a:p>
            <a:pPr lvl="0"/>
            <a:r>
              <a:rPr>
                <a:hlinkClick r:id="rId8" action="ppaction://hlinksldjump"/>
              </a:rPr>
              <a:t>7. 参考资料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 Shiny简介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1.1 Shiny是什么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定义：</a:t>
            </a:r>
          </a:p>
          <a:p>
            <a:pPr lvl="0"/>
            <a:r>
              <a:rPr/>
              <a:t>Shiny是R语言的Web应用框架</a:t>
            </a:r>
          </a:p>
          <a:p>
            <a:pPr lvl="0"/>
            <a:r>
              <a:rPr/>
              <a:t>允许用户创建交互式的Web应用程序</a:t>
            </a:r>
          </a:p>
          <a:p>
            <a:pPr lvl="0"/>
            <a:r>
              <a:rPr/>
              <a:t>无需HTML、CSS或JavaScript知识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1.1 Shiny是什么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核心特点：</a:t>
            </a:r>
          </a:p>
          <a:p>
            <a:pPr lvl="0"/>
            <a:r>
              <a:rPr b="1"/>
              <a:t>交互式</a:t>
            </a:r>
            <a:r>
              <a:rPr/>
              <a:t>：支持实时用户交互和响应</a:t>
            </a:r>
          </a:p>
          <a:p>
            <a:pPr lvl="0"/>
            <a:r>
              <a:rPr b="1"/>
              <a:t>R集成</a:t>
            </a:r>
            <a:r>
              <a:rPr/>
              <a:t>：完全集成R的数据分析能力</a:t>
            </a:r>
          </a:p>
          <a:p>
            <a:pPr lvl="0"/>
            <a:r>
              <a:rPr b="1"/>
              <a:t>可视化</a:t>
            </a:r>
            <a:r>
              <a:rPr/>
              <a:t>：内置多种数据可视化工具</a:t>
            </a:r>
          </a:p>
          <a:p>
            <a:pPr lvl="0"/>
            <a:r>
              <a:rPr b="1"/>
              <a:t>部署简单</a:t>
            </a:r>
            <a:r>
              <a:rPr/>
              <a:t>：支持多种部署方式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1.2 Shiny工作原理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架构：</a:t>
            </a:r>
          </a:p>
          <a:p>
            <a:pPr lvl="0"/>
            <a:r>
              <a:rPr b="1"/>
              <a:t>客户端-服务器架构</a:t>
            </a:r>
          </a:p>
          <a:p>
            <a:pPr lvl="0"/>
            <a:r>
              <a:rPr b="1"/>
              <a:t>客户端</a:t>
            </a:r>
            <a:r>
              <a:rPr/>
              <a:t>：用户浏览器，负责UI展示</a:t>
            </a:r>
          </a:p>
          <a:p>
            <a:pPr lvl="0"/>
            <a:r>
              <a:rPr b="1"/>
              <a:t>服务器</a:t>
            </a:r>
            <a:r>
              <a:rPr/>
              <a:t>：R进程，处理计算和数据操作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1.2 Shiny工作原理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数据流向：</a:t>
            </a:r>
          </a:p>
          <a:p>
            <a:pPr lvl="0" indent="-342900" marL="342900">
              <a:buAutoNum type="arabicPeriod"/>
            </a:pPr>
            <a:r>
              <a:rPr/>
              <a:t>用户在浏览器中与UI交互</a:t>
            </a:r>
          </a:p>
          <a:p>
            <a:pPr lvl="0" indent="-342900" marL="342900">
              <a:buAutoNum type="arabicPeriod"/>
            </a:pPr>
            <a:r>
              <a:rPr/>
              <a:t>输入数据发送到服务器</a:t>
            </a:r>
          </a:p>
          <a:p>
            <a:pPr lvl="0" indent="-342900" marL="342900">
              <a:buAutoNum type="arabicPeriod"/>
            </a:pPr>
            <a:r>
              <a:rPr/>
              <a:t>服务器执行R代码处理数据</a:t>
            </a:r>
          </a:p>
          <a:p>
            <a:pPr lvl="0" indent="-342900" marL="342900">
              <a:buAutoNum type="arabicPeriod"/>
            </a:pPr>
            <a:r>
              <a:rPr/>
              <a:t>结果返回给客户端显示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1.3 Shiny应用结构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文件结构：</a:t>
            </a:r>
          </a:p>
          <a:p>
            <a:pPr lvl="0"/>
            <a:r>
              <a:rPr b="1"/>
              <a:t>单文件结构</a:t>
            </a:r>
            <a:r>
              <a:rPr/>
              <a:t>：app.R，包含UI和Server</a:t>
            </a:r>
          </a:p>
          <a:p>
            <a:pPr lvl="0"/>
            <a:r>
              <a:rPr b="1"/>
              <a:t>多文件结构</a:t>
            </a:r>
            <a:r>
              <a:rPr/>
              <a:t>：ui.R、server.R、global.R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1.3 Shiny应用结构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多文件结构优势：</a:t>
            </a:r>
          </a:p>
          <a:p>
            <a:pPr lvl="0"/>
            <a:r>
              <a:rPr/>
              <a:t>代码组织更清晰</a:t>
            </a:r>
          </a:p>
          <a:p>
            <a:pPr lvl="0"/>
            <a:r>
              <a:rPr/>
              <a:t>便于团队协作</a:t>
            </a:r>
          </a:p>
          <a:p>
            <a:pPr lvl="0"/>
            <a:r>
              <a:rPr/>
              <a:t>适合大型应用开发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 应用顶层设计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2.1 应用目标与功能定位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应用目标：</a:t>
            </a:r>
          </a:p>
          <a:p>
            <a:pPr lvl="0"/>
            <a:r>
              <a:rPr/>
              <a:t>构建一个基于机器学习模型的内在能力评估工具</a:t>
            </a:r>
          </a:p>
          <a:p>
            <a:pPr lvl="0"/>
            <a:r>
              <a:rPr/>
              <a:t>为用户提供直观、易用的预测界面</a:t>
            </a:r>
          </a:p>
          <a:p>
            <a:pPr lvl="0"/>
            <a:r>
              <a:rPr/>
              <a:t>提供详细的预测结果解释，增强模型透明度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2.1 应用目标与功能定位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功能定位：</a:t>
            </a:r>
          </a:p>
          <a:p>
            <a:pPr lvl="0"/>
            <a:r>
              <a:rPr b="1"/>
              <a:t>核心功能</a:t>
            </a:r>
            <a:r>
              <a:rPr/>
              <a:t>：基于XGBoost模型预测内在能力分数</a:t>
            </a:r>
          </a:p>
          <a:p>
            <a:pPr lvl="0"/>
            <a:r>
              <a:rPr b="1"/>
              <a:t>辅助功能</a:t>
            </a:r>
            <a:r>
              <a:rPr/>
              <a:t>：多维度输入参数管理</a:t>
            </a:r>
          </a:p>
          <a:p>
            <a:pPr lvl="0"/>
            <a:r>
              <a:rPr b="1"/>
              <a:t>辅助功能</a:t>
            </a:r>
            <a:r>
              <a:rPr/>
              <a:t>：预测结果可视化解释</a:t>
            </a:r>
          </a:p>
          <a:p>
            <a:pPr lvl="0"/>
            <a:r>
              <a:rPr b="1"/>
              <a:t>辅助功能</a:t>
            </a:r>
            <a:r>
              <a:rPr/>
              <a:t>：全局特征重要性分析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2.1 应用目标与功能定位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目标用户：</a:t>
            </a:r>
          </a:p>
          <a:p>
            <a:pPr lvl="0"/>
            <a:r>
              <a:rPr/>
              <a:t>医疗保健专业人员</a:t>
            </a:r>
          </a:p>
          <a:p>
            <a:pPr lvl="0"/>
            <a:r>
              <a:rPr/>
              <a:t>研究人员</a:t>
            </a:r>
          </a:p>
          <a:p>
            <a:pPr lvl="0"/>
            <a:r>
              <a:rPr/>
              <a:t>需要自我评估的老年人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2.2 整体架构设计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系统架构：</a:t>
            </a:r>
          </a:p>
          <a:p>
            <a:pPr lvl="0"/>
            <a:r>
              <a:rPr b="1"/>
              <a:t>前端</a:t>
            </a:r>
            <a:r>
              <a:rPr/>
              <a:t>：Shiny UI界面，包含输入表单和结果展示</a:t>
            </a:r>
          </a:p>
          <a:p>
            <a:pPr lvl="0"/>
            <a:r>
              <a:rPr b="1"/>
              <a:t>后端</a:t>
            </a:r>
            <a:r>
              <a:rPr/>
              <a:t>：Shiny Server，处理业务逻辑和模型预测</a:t>
            </a:r>
          </a:p>
          <a:p>
            <a:pPr lvl="0"/>
            <a:r>
              <a:rPr b="1"/>
              <a:t>数据层</a:t>
            </a:r>
            <a:r>
              <a:rPr/>
              <a:t>：预训练的XGBoost模型和特征配置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2.2 整体架构设计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架构图：</a:t>
            </a:r>
          </a:p>
          <a:p>
            <a:pPr lvl="0" indent="0" marL="0">
              <a:buNone/>
            </a:pPr>
          </a:p>
        </p:txBody>
      </p:sp>
      <p:pic>
        <p:nvPicPr>
          <p:cNvPr descr="shiny_app_documentation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203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2.3 核心设计原则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用户体验优先：</a:t>
            </a:r>
          </a:p>
          <a:p>
            <a:pPr lvl="0"/>
            <a:r>
              <a:rPr/>
              <a:t>简洁直观的界面设计</a:t>
            </a:r>
          </a:p>
          <a:p>
            <a:pPr lvl="0"/>
            <a:r>
              <a:rPr/>
              <a:t>合理的输入分组和布局</a:t>
            </a:r>
          </a:p>
          <a:p>
            <a:pPr lvl="0"/>
            <a:r>
              <a:rPr/>
              <a:t>实时的反馈机制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2.3 核心设计原则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技术架构清晰：</a:t>
            </a:r>
          </a:p>
          <a:p>
            <a:pPr lvl="0"/>
            <a:r>
              <a:rPr/>
              <a:t>遵循Shiny的三文件结构</a:t>
            </a:r>
          </a:p>
          <a:p>
            <a:pPr lvl="0"/>
            <a:r>
              <a:rPr/>
              <a:t>分离关注点，模块化设计</a:t>
            </a:r>
          </a:p>
          <a:p>
            <a:pPr lvl="0"/>
            <a:r>
              <a:rPr/>
              <a:t>可扩展性和可维护性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2.3 核心设计原则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预测准确性与可解释性：</a:t>
            </a:r>
          </a:p>
          <a:p>
            <a:pPr lvl="0"/>
            <a:r>
              <a:rPr/>
              <a:t>使用预训练的高质量模型</a:t>
            </a:r>
          </a:p>
          <a:p>
            <a:pPr lvl="0"/>
            <a:r>
              <a:rPr/>
              <a:t>提供SHAP值解释预测结果</a:t>
            </a:r>
          </a:p>
          <a:p>
            <a:pPr lvl="0"/>
            <a:r>
              <a:rPr/>
              <a:t>支持全局和个体水平的解释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技术架构设计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3.1 技术选型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核心技术：</a:t>
            </a:r>
          </a:p>
          <a:p>
            <a:pPr lvl="0"/>
            <a:r>
              <a:rPr b="1"/>
              <a:t>Web框架</a:t>
            </a:r>
            <a:r>
              <a:rPr/>
              <a:t>：Shiny (R语言)</a:t>
            </a:r>
          </a:p>
          <a:p>
            <a:pPr lvl="0"/>
            <a:r>
              <a:rPr b="1"/>
              <a:t>预测模型</a:t>
            </a:r>
            <a:r>
              <a:rPr/>
              <a:t>：XGBoost</a:t>
            </a:r>
          </a:p>
          <a:p>
            <a:pPr lvl="0"/>
            <a:r>
              <a:rPr b="1"/>
              <a:t>数据可视化</a:t>
            </a:r>
            <a:r>
              <a:rPr/>
              <a:t>：ggplot2 + shapviz</a:t>
            </a:r>
          </a:p>
          <a:p>
            <a:pPr lvl="0"/>
            <a:r>
              <a:rPr b="1"/>
              <a:t>UI框架</a:t>
            </a:r>
            <a:r>
              <a:rPr/>
              <a:t>：Bootstrap 5 (bslib)</a:t>
            </a:r>
          </a:p>
          <a:p>
            <a:pPr lvl="0"/>
            <a:r>
              <a:rPr b="1"/>
              <a:t>部署平台</a:t>
            </a:r>
            <a:r>
              <a:rPr/>
              <a:t>：shinyapps.io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3.1 技术选型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技术选型理由：</a:t>
            </a:r>
          </a:p>
          <a:p>
            <a:pPr lvl="0"/>
            <a:r>
              <a:rPr/>
              <a:t>Shiny：适合数据分析专业人士，无需前端开发经验</a:t>
            </a:r>
          </a:p>
          <a:p>
            <a:pPr lvl="0"/>
            <a:r>
              <a:rPr/>
              <a:t>XGBoost：高性能、高精度的梯度提升算法</a:t>
            </a:r>
          </a:p>
          <a:p>
            <a:pPr lvl="0"/>
            <a:r>
              <a:rPr/>
              <a:t>ggplot2：强大的R语言可视化库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3.1 技术选型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技术选型理由：</a:t>
            </a:r>
          </a:p>
          <a:p>
            <a:pPr lvl="0"/>
            <a:r>
              <a:rPr/>
              <a:t>Bootstrap：响应式设计，美观的UI组件</a:t>
            </a:r>
          </a:p>
          <a:p>
            <a:pPr lvl="0"/>
            <a:r>
              <a:rPr/>
              <a:t>shinyapps.io：简单易用的Shiny应用托管服务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三层架构：</a:t>
            </a:r>
          </a:p>
          <a:p>
            <a:pPr lvl="0"/>
            <a:r>
              <a:rPr b="1"/>
              <a:t>交互层 (Interaction Layer)</a:t>
            </a:r>
            <a:r>
              <a:rPr/>
              <a:t>：</a:t>
            </a:r>
          </a:p>
          <a:p>
            <a:pPr lvl="1"/>
            <a:r>
              <a:rPr/>
              <a:t>ui.R：定义用户界面</a:t>
            </a:r>
          </a:p>
          <a:p>
            <a:pPr lvl="1"/>
            <a:r>
              <a:rPr/>
              <a:t>包含输入控件和输出展示</a:t>
            </a:r>
          </a:p>
          <a:p>
            <a:pPr lvl="1"/>
            <a:r>
              <a:rPr/>
              <a:t>负责用户交互和数据展示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三层架构：</a:t>
            </a:r>
          </a:p>
          <a:p>
            <a:pPr lvl="0"/>
            <a:r>
              <a:rPr b="1"/>
              <a:t>业务逻辑层 (Business Logic Layer)</a:t>
            </a:r>
            <a:r>
              <a:rPr/>
              <a:t>：</a:t>
            </a:r>
          </a:p>
          <a:p>
            <a:pPr lvl="1"/>
            <a:r>
              <a:rPr/>
              <a:t>server.R：处理核心业务逻辑</a:t>
            </a:r>
          </a:p>
          <a:p>
            <a:pPr lvl="1"/>
            <a:r>
              <a:rPr/>
              <a:t>响应用户输入事件</a:t>
            </a:r>
          </a:p>
          <a:p>
            <a:pPr lvl="1"/>
            <a:r>
              <a:rPr/>
              <a:t>执行模型预测和结果处理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三层架构：</a:t>
            </a:r>
          </a:p>
          <a:p>
            <a:pPr lvl="0"/>
            <a:r>
              <a:rPr b="1"/>
              <a:t>数据层 (Data Layer)</a:t>
            </a:r>
            <a:r>
              <a:rPr/>
              <a:t>：</a:t>
            </a:r>
          </a:p>
          <a:p>
            <a:pPr lvl="1"/>
            <a:r>
              <a:rPr/>
              <a:t>global.R：管理数据和模型</a:t>
            </a:r>
          </a:p>
          <a:p>
            <a:pPr lvl="1"/>
            <a:r>
              <a:rPr/>
              <a:t>加载预训练模型</a:t>
            </a:r>
          </a:p>
          <a:p>
            <a:pPr lvl="1"/>
            <a:r>
              <a:rPr/>
              <a:t>定义特征配置和共享资源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数据流程设计：</a:t>
            </a:r>
          </a:p>
          <a:p>
            <a:pPr lvl="0"/>
            <a:r>
              <a:rPr b="1"/>
              <a:t>数据流向</a:t>
            </a:r>
            <a:r>
              <a:rPr/>
              <a:t>：</a:t>
            </a:r>
          </a:p>
          <a:p>
            <a:pPr lvl="1" indent="-342900" marL="685800">
              <a:buAutoNum type="arabicPeriod"/>
            </a:pPr>
            <a:r>
              <a:rPr b="1"/>
              <a:t>输入阶段</a:t>
            </a:r>
            <a:r>
              <a:rPr/>
              <a:t>：用户通过UI输入参数</a:t>
            </a:r>
          </a:p>
          <a:p>
            <a:pPr lvl="1" indent="-342900" marL="685800">
              <a:buAutoNum type="arabicPeriod"/>
            </a:pPr>
            <a:r>
              <a:rPr b="1"/>
              <a:t>处理阶段</a:t>
            </a:r>
            <a:r>
              <a:rPr/>
              <a:t>：Server接收输入，构建特征向量</a:t>
            </a:r>
          </a:p>
          <a:p>
            <a:pPr lvl="1" indent="-342900" marL="685800">
              <a:buAutoNum type="arabicPeriod"/>
            </a:pPr>
            <a:r>
              <a:rPr b="1"/>
              <a:t>预测阶段</a:t>
            </a:r>
            <a:r>
              <a:rPr/>
              <a:t>：调用XGBoost模型生成预测</a:t>
            </a:r>
          </a:p>
          <a:p>
            <a:pPr lvl="1" indent="-342900" marL="685800">
              <a:buAutoNum type="arabicPeriod"/>
            </a:pPr>
            <a:r>
              <a:rPr b="1"/>
              <a:t>解释阶段</a:t>
            </a:r>
            <a:r>
              <a:rPr/>
              <a:t>：计算SHAP值，生成解释</a:t>
            </a:r>
          </a:p>
          <a:p>
            <a:pPr lvl="1" indent="-342900" marL="685800">
              <a:buAutoNum type="arabicPeriod"/>
            </a:pPr>
            <a:r>
              <a:rPr b="1"/>
              <a:t>输出阶段</a:t>
            </a:r>
            <a:r>
              <a:rPr/>
              <a:t>：将结果和解释返回给UI展示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数据流程设计：</a:t>
            </a:r>
          </a:p>
          <a:p>
            <a:pPr lvl="0"/>
            <a:r>
              <a:rPr b="1"/>
              <a:t>数据处理流程</a:t>
            </a:r>
            <a:r>
              <a:rPr/>
              <a:t>：</a:t>
            </a:r>
          </a:p>
          <a:p>
            <a:pPr lvl="1"/>
            <a:r>
              <a:rPr/>
              <a:t>数值变量：直接使用用户输入值</a:t>
            </a:r>
          </a:p>
          <a:p>
            <a:pPr lvl="1"/>
            <a:r>
              <a:rPr/>
              <a:t>分类变量：进行独热编码转换</a:t>
            </a:r>
          </a:p>
          <a:p>
            <a:pPr lvl="1"/>
            <a:r>
              <a:rPr/>
              <a:t>特征顺序：严格按照模型训练时的顺序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详细设计与实现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4.1 项目结构设计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目录结构：</a:t>
            </a:r>
          </a:p>
          <a:p>
            <a:pPr lvl="0" indent="0">
              <a:buNone/>
            </a:pPr>
            <a:r>
              <a:rPr>
                <a:latin typeface="Courier"/>
              </a:rPr>
              <a:t>shiny_app_ic_model/
├── model/                  # 模型存储目录
│   └── xgb_booster.rds     # 预训练的XGBoost模型
├── rsconnect/              # 部署配置
│   └── shinyapps.io/       # shinyapps.io配置
├── global.R                # 全局配置和模型加载
├── server.R                # 服务器逻辑
└── ui.R                    # 用户界面定义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4.1 项目结构设计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核心文件功能：</a:t>
            </a:r>
          </a:p>
          <a:p>
            <a:pPr lvl="0"/>
            <a:r>
              <a:rPr/>
              <a:t>global.R：模型加载、特征定义、共享函数</a:t>
            </a:r>
          </a:p>
          <a:p>
            <a:pPr lvl="0"/>
            <a:r>
              <a:rPr/>
              <a:t>ui.R：输入控件、结果展示、布局设计</a:t>
            </a:r>
          </a:p>
          <a:p>
            <a:pPr lvl="0"/>
            <a:r>
              <a:rPr/>
              <a:t>server.R：事件处理、预测计算、结果生成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输入模块：</a:t>
            </a:r>
          </a:p>
          <a:p>
            <a:pPr lvl="0"/>
            <a:r>
              <a:rPr b="1"/>
              <a:t>实现方案</a:t>
            </a:r>
            <a:r>
              <a:rPr/>
              <a:t>：</a:t>
            </a:r>
          </a:p>
          <a:p>
            <a:pPr lvl="1"/>
            <a:r>
              <a:rPr/>
              <a:t>使用标签页组织不同类别的输入</a:t>
            </a:r>
          </a:p>
          <a:p>
            <a:pPr lvl="1"/>
            <a:r>
              <a:rPr/>
              <a:t>为每个输入控件设置合理的默认值和范围</a:t>
            </a:r>
          </a:p>
          <a:p>
            <a:pPr lvl="1"/>
            <a:r>
              <a:rPr/>
              <a:t>提供清晰的参数说明和单位</a:t>
            </a:r>
          </a:p>
          <a:p>
            <a:pPr lvl="0"/>
            <a:r>
              <a:rPr b="1"/>
              <a:t>输入分类</a:t>
            </a:r>
            <a:r>
              <a:rPr/>
              <a:t>：</a:t>
            </a:r>
          </a:p>
          <a:p>
            <a:pPr lvl="1"/>
            <a:r>
              <a:rPr b="1"/>
              <a:t>基本信息</a:t>
            </a:r>
            <a:r>
              <a:rPr/>
              <a:t>：年龄、识字能力、教育水平等</a:t>
            </a:r>
          </a:p>
          <a:p>
            <a:pPr lvl="1"/>
            <a:r>
              <a:rPr b="1"/>
              <a:t>健康状况</a:t>
            </a:r>
            <a:r>
              <a:rPr/>
              <a:t>：血红蛋白、甘油三酯、尿酸等</a:t>
            </a:r>
          </a:p>
          <a:p>
            <a:pPr lvl="1"/>
            <a:r>
              <a:rPr b="1"/>
              <a:t>生活方式</a:t>
            </a:r>
            <a:r>
              <a:rPr/>
              <a:t>：吸烟情况、社会活动、满意度等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预测模块：</a:t>
            </a:r>
          </a:p>
          <a:p>
            <a:pPr lvl="0"/>
            <a:r>
              <a:rPr b="1"/>
              <a:t>设计目标</a:t>
            </a:r>
            <a:r>
              <a:rPr/>
              <a:t>：</a:t>
            </a:r>
          </a:p>
          <a:p>
            <a:pPr lvl="1"/>
            <a:r>
              <a:rPr/>
              <a:t>准确执行模型预测</a:t>
            </a:r>
          </a:p>
          <a:p>
            <a:pPr lvl="1"/>
            <a:r>
              <a:rPr/>
              <a:t>高效处理输入数据</a:t>
            </a:r>
          </a:p>
          <a:p>
            <a:pPr lvl="1"/>
            <a:r>
              <a:rPr/>
              <a:t>确保预测结果的一致性</a:t>
            </a:r>
          </a:p>
          <a:p>
            <a:pPr lvl="0"/>
            <a:r>
              <a:rPr b="1"/>
              <a:t>实现方案</a:t>
            </a:r>
            <a:r>
              <a:rPr/>
              <a:t>：</a:t>
            </a:r>
          </a:p>
          <a:p>
            <a:pPr lvl="1"/>
            <a:r>
              <a:rPr/>
              <a:t>在global.R中预加载模型，避免重复加载</a:t>
            </a:r>
          </a:p>
          <a:p>
            <a:pPr lvl="1"/>
            <a:r>
              <a:rPr/>
              <a:t>构建与模型训练时一致的特征向量</a:t>
            </a:r>
          </a:p>
          <a:p>
            <a:pPr lvl="1"/>
            <a:r>
              <a:rPr/>
              <a:t>正确处理分类变量的独热编码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预测模块：</a:t>
            </a:r>
          </a:p>
          <a:p>
            <a:pPr lvl="0"/>
            <a:r>
              <a:rPr b="1"/>
              <a:t>核心流程</a:t>
            </a:r>
            <a:r>
              <a:rPr/>
              <a:t>：</a:t>
            </a:r>
          </a:p>
          <a:p>
            <a:pPr lvl="1" indent="-342900" marL="685800">
              <a:buAutoNum type="arabicPeriod"/>
            </a:pPr>
            <a:r>
              <a:rPr/>
              <a:t>接收用户输入</a:t>
            </a:r>
          </a:p>
          <a:p>
            <a:pPr lvl="1" indent="-342900" marL="685800">
              <a:buAutoNum type="arabicPeriod"/>
            </a:pPr>
            <a:r>
              <a:rPr/>
              <a:t>构建特征向量</a:t>
            </a:r>
          </a:p>
          <a:p>
            <a:pPr lvl="1" indent="-342900" marL="685800">
              <a:buAutoNum type="arabicPeriod"/>
            </a:pPr>
            <a:r>
              <a:rPr/>
              <a:t>执行模型预测</a:t>
            </a:r>
          </a:p>
          <a:p>
            <a:pPr lvl="1" indent="-342900" marL="685800">
              <a:buAutoNum type="arabicPeriod"/>
            </a:pPr>
            <a:r>
              <a:rPr/>
              <a:t>返回预测结果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解释模块：</a:t>
            </a:r>
          </a:p>
          <a:p>
            <a:pPr lvl="0"/>
            <a:r>
              <a:rPr b="1"/>
              <a:t>设计目标</a:t>
            </a:r>
            <a:r>
              <a:rPr/>
              <a:t>：</a:t>
            </a:r>
          </a:p>
          <a:p>
            <a:pPr lvl="1"/>
            <a:r>
              <a:rPr/>
              <a:t>提供预测结果的可解释性</a:t>
            </a:r>
          </a:p>
          <a:p>
            <a:pPr lvl="1"/>
            <a:r>
              <a:rPr/>
              <a:t>支持全局和个体水平的解释</a:t>
            </a:r>
          </a:p>
          <a:p>
            <a:pPr lvl="1"/>
            <a:r>
              <a:rPr/>
              <a:t>使用可视化增强解释效果</a:t>
            </a:r>
          </a:p>
          <a:p>
            <a:pPr lvl="0"/>
            <a:r>
              <a:rPr b="1"/>
              <a:t>实现方案</a:t>
            </a:r>
            <a:r>
              <a:rPr/>
              <a:t>：</a:t>
            </a:r>
          </a:p>
          <a:p>
            <a:pPr lvl="1"/>
            <a:r>
              <a:rPr/>
              <a:t>使用SHAP值计算特征贡献</a:t>
            </a:r>
          </a:p>
          <a:p>
            <a:pPr lvl="1"/>
            <a:r>
              <a:rPr/>
              <a:t>生成瀑布图展示个体预测解释</a:t>
            </a:r>
          </a:p>
          <a:p>
            <a:pPr lvl="1"/>
            <a:r>
              <a:rPr/>
              <a:t>提供全局特征重要性分析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解释模块：</a:t>
            </a:r>
          </a:p>
          <a:p>
            <a:pPr lvl="0"/>
            <a:r>
              <a:rPr b="1"/>
              <a:t>解释方法：</a:t>
            </a:r>
          </a:p>
          <a:p>
            <a:pPr lvl="1"/>
            <a:r>
              <a:rPr/>
              <a:t>SHAP值：基于博弈论的特征归因方法</a:t>
            </a:r>
          </a:p>
          <a:p>
            <a:pPr lvl="1"/>
            <a:r>
              <a:rPr/>
              <a:t>瀑布图：展示每个特征对预测结果的贡献</a:t>
            </a:r>
          </a:p>
          <a:p>
            <a:pPr lvl="1"/>
            <a:r>
              <a:rPr/>
              <a:t>特征重要性：全局视角的特征影响分析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4.3 UI设计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界面布局：</a:t>
            </a:r>
          </a:p>
          <a:p>
            <a:pPr lvl="0"/>
            <a:r>
              <a:rPr b="1"/>
              <a:t>布局结构</a:t>
            </a:r>
            <a:r>
              <a:rPr/>
              <a:t>：</a:t>
            </a:r>
          </a:p>
          <a:p>
            <a:pPr lvl="1"/>
            <a:r>
              <a:rPr b="1"/>
              <a:t>顶部</a:t>
            </a:r>
            <a:r>
              <a:rPr/>
              <a:t>：应用标题和说明</a:t>
            </a:r>
          </a:p>
          <a:p>
            <a:pPr lvl="1"/>
            <a:r>
              <a:rPr b="1"/>
              <a:t>左侧</a:t>
            </a:r>
            <a:r>
              <a:rPr/>
              <a:t>：输入参数表单（占40%宽度）</a:t>
            </a:r>
          </a:p>
          <a:p>
            <a:pPr lvl="1"/>
            <a:r>
              <a:rPr b="1"/>
              <a:t>右侧</a:t>
            </a:r>
            <a:r>
              <a:rPr/>
              <a:t>：结果展示区域（占60%宽度）</a:t>
            </a:r>
          </a:p>
          <a:p>
            <a:pPr lvl="0"/>
            <a:r>
              <a:rPr b="1"/>
              <a:t>交互设计</a:t>
            </a:r>
            <a:r>
              <a:rPr/>
              <a:t>：</a:t>
            </a:r>
          </a:p>
          <a:p>
            <a:pPr lvl="1"/>
            <a:r>
              <a:rPr/>
              <a:t>使用标签页组织输入参数</a:t>
            </a:r>
          </a:p>
          <a:p>
            <a:pPr lvl="1"/>
            <a:r>
              <a:rPr/>
              <a:t>提供明显的预测按钮</a:t>
            </a:r>
          </a:p>
          <a:p>
            <a:pPr lvl="1"/>
            <a:r>
              <a:rPr/>
              <a:t>实时更新结果和可视化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4.3 UI设计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视觉设计：</a:t>
            </a:r>
          </a:p>
          <a:p>
            <a:pPr lvl="0"/>
            <a:r>
              <a:rPr b="1"/>
              <a:t>主题选择</a:t>
            </a:r>
            <a:r>
              <a:rPr/>
              <a:t>：</a:t>
            </a:r>
          </a:p>
          <a:p>
            <a:pPr lvl="1"/>
            <a:r>
              <a:rPr/>
              <a:t>使用Bootstrap 5的”flatly”主题</a:t>
            </a:r>
          </a:p>
          <a:p>
            <a:pPr lvl="1"/>
            <a:r>
              <a:rPr/>
              <a:t>简洁现代的配色方案</a:t>
            </a:r>
          </a:p>
          <a:p>
            <a:pPr lvl="1"/>
            <a:r>
              <a:rPr/>
              <a:t>适合医疗健康应用的专业感</a:t>
            </a:r>
          </a:p>
          <a:p>
            <a:pPr lvl="0"/>
            <a:r>
              <a:rPr b="1"/>
              <a:t>字体配置</a:t>
            </a:r>
            <a:r>
              <a:rPr/>
              <a:t>：</a:t>
            </a:r>
          </a:p>
          <a:p>
            <a:pPr lvl="1"/>
            <a:r>
              <a:rPr/>
              <a:t>启用中文字体支持（Noto Sans SC）</a:t>
            </a:r>
          </a:p>
          <a:p>
            <a:pPr lvl="1"/>
            <a:r>
              <a:rPr/>
              <a:t>确保图表和文本的字体一致性</a:t>
            </a:r>
          </a:p>
          <a:p>
            <a:pPr lvl="1"/>
            <a:r>
              <a:rPr/>
              <a:t>优化不同设备的显示效果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4.4 服务器逻辑设计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事件处理：</a:t>
            </a:r>
          </a:p>
          <a:p>
            <a:pPr lvl="0"/>
            <a:r>
              <a:rPr b="1"/>
              <a:t>核心事件</a:t>
            </a:r>
            <a:r>
              <a:rPr/>
              <a:t>：</a:t>
            </a:r>
          </a:p>
          <a:p>
            <a:pPr lvl="1"/>
            <a:r>
              <a:rPr/>
              <a:t>预测按钮点击事件</a:t>
            </a:r>
          </a:p>
          <a:p>
            <a:pPr lvl="1"/>
            <a:r>
              <a:rPr/>
              <a:t>输入参数变化事件</a:t>
            </a:r>
          </a:p>
          <a:p>
            <a:pPr lvl="1"/>
            <a:r>
              <a:rPr/>
              <a:t>应用初始化事件</a:t>
            </a:r>
          </a:p>
          <a:p>
            <a:pPr lvl="0"/>
            <a:r>
              <a:rPr b="1"/>
              <a:t>事件处理流程</a:t>
            </a:r>
            <a:r>
              <a:rPr/>
              <a:t>：</a:t>
            </a:r>
          </a:p>
          <a:p>
            <a:pPr lvl="1" indent="-342900" marL="685800">
              <a:buAutoNum type="arabicPeriod"/>
            </a:pPr>
            <a:r>
              <a:rPr/>
              <a:t>监听用户点击预测按钮</a:t>
            </a:r>
          </a:p>
          <a:p>
            <a:pPr lvl="1" indent="-342900" marL="685800">
              <a:buAutoNum type="arabicPeriod"/>
            </a:pPr>
            <a:r>
              <a:rPr/>
              <a:t>收集所有输入参数</a:t>
            </a:r>
          </a:p>
          <a:p>
            <a:pPr lvl="1" indent="-342900" marL="685800">
              <a:buAutoNum type="arabicPeriod"/>
            </a:pPr>
            <a:r>
              <a:rPr/>
              <a:t>构建特征向量</a:t>
            </a:r>
          </a:p>
          <a:p>
            <a:pPr lvl="1" indent="-342900" marL="685800">
              <a:buAutoNum type="arabicPeriod"/>
            </a:pPr>
            <a:r>
              <a:rPr/>
              <a:t>执行预测和解释</a:t>
            </a:r>
          </a:p>
          <a:p>
            <a:pPr lvl="1" indent="-342900" marL="685800">
              <a:buAutoNum type="arabicPeriod"/>
            </a:pPr>
            <a:r>
              <a:rPr/>
              <a:t>更新UI展示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4.4 服务器逻辑设计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性能优化：</a:t>
            </a:r>
          </a:p>
          <a:p>
            <a:pPr lvl="0"/>
            <a:r>
              <a:rPr b="1"/>
              <a:t>优化策略</a:t>
            </a:r>
            <a:r>
              <a:rPr/>
              <a:t>：</a:t>
            </a:r>
          </a:p>
          <a:p>
            <a:pPr lvl="1"/>
            <a:r>
              <a:rPr/>
              <a:t>仅在用户点击预测时执行计算</a:t>
            </a:r>
          </a:p>
          <a:p>
            <a:pPr lvl="1"/>
            <a:r>
              <a:rPr/>
              <a:t>预加载模型和资源</a:t>
            </a:r>
          </a:p>
          <a:p>
            <a:pPr lvl="1"/>
            <a:r>
              <a:rPr/>
              <a:t>优化图表渲染性能</a:t>
            </a:r>
          </a:p>
          <a:p>
            <a:pPr lvl="1"/>
            <a:r>
              <a:rPr/>
              <a:t>避免不必要的计算和重绘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 部署与运维设计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5.1 部署架构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部署目标：</a:t>
            </a:r>
          </a:p>
          <a:p>
            <a:pPr lvl="0"/>
            <a:r>
              <a:rPr/>
              <a:t>确保应用稳定运行</a:t>
            </a:r>
          </a:p>
          <a:p>
            <a:pPr lvl="0"/>
            <a:r>
              <a:rPr/>
              <a:t>支持快速更新和回滚</a:t>
            </a:r>
          </a:p>
          <a:p>
            <a:pPr lvl="0"/>
            <a:r>
              <a:rPr/>
              <a:t>提供可靠的访问体验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5.1 部署架构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部署方案：</a:t>
            </a:r>
          </a:p>
          <a:p>
            <a:pPr lvl="0"/>
            <a:r>
              <a:rPr b="1"/>
              <a:t>平台选择</a:t>
            </a:r>
            <a:r>
              <a:rPr/>
              <a:t>：shinyapps.io</a:t>
            </a:r>
          </a:p>
          <a:p>
            <a:pPr lvl="0"/>
            <a:r>
              <a:rPr b="1"/>
              <a:t>部署流程</a:t>
            </a:r>
            <a:r>
              <a:rPr/>
              <a:t>：</a:t>
            </a:r>
          </a:p>
          <a:p>
            <a:pPr lvl="1" indent="-342900" marL="685800">
              <a:buAutoNum type="arabicPeriod"/>
            </a:pPr>
            <a:r>
              <a:rPr/>
              <a:t>安装rsconnect包</a:t>
            </a:r>
          </a:p>
          <a:p>
            <a:pPr lvl="1" indent="-342900" marL="685800">
              <a:buAutoNum type="arabicPeriod"/>
            </a:pPr>
            <a:r>
              <a:rPr/>
              <a:t>配置shinyapps.io账户</a:t>
            </a:r>
          </a:p>
          <a:p>
            <a:pPr lvl="1" indent="-342900" marL="685800">
              <a:buAutoNum type="arabicPeriod"/>
            </a:pPr>
            <a:r>
              <a:rPr/>
              <a:t>执行部署命令</a:t>
            </a:r>
          </a:p>
          <a:p>
            <a:pPr lvl="1" indent="-342900" marL="685800">
              <a:buAutoNum type="arabicPeriod"/>
            </a:pPr>
            <a:r>
              <a:rPr/>
              <a:t>验证部署结果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5.1 部署架构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部署配置：</a:t>
            </a:r>
          </a:p>
          <a:p>
            <a:pPr lvl="0"/>
            <a:r>
              <a:rPr/>
              <a:t>应用元数据管理</a:t>
            </a:r>
          </a:p>
          <a:p>
            <a:pPr lvl="0"/>
            <a:r>
              <a:rPr/>
              <a:t>依赖包版本控制</a:t>
            </a:r>
          </a:p>
          <a:p>
            <a:pPr lvl="0"/>
            <a:r>
              <a:rPr/>
              <a:t>部署环境配置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5.2 依赖管理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核心依赖：</a:t>
            </a:r>
          </a:p>
          <a:p>
            <a:pPr lvl="0"/>
            <a:r>
              <a:rPr/>
              <a:t>shiny：Web应用框架</a:t>
            </a:r>
          </a:p>
          <a:p>
            <a:pPr lvl="0"/>
            <a:r>
              <a:rPr/>
              <a:t>xgboost：预测模型</a:t>
            </a:r>
          </a:p>
          <a:p>
            <a:pPr lvl="0"/>
            <a:r>
              <a:rPr/>
              <a:t>ggplot2：数据可视化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5.2 依赖管理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核心依赖：</a:t>
            </a:r>
          </a:p>
          <a:p>
            <a:pPr lvl="0"/>
            <a:r>
              <a:rPr/>
              <a:t>bslib：Bootstrap主题</a:t>
            </a:r>
          </a:p>
          <a:p>
            <a:pPr lvl="0"/>
            <a:r>
              <a:rPr/>
              <a:t>shapviz：SHAP值可视化</a:t>
            </a:r>
          </a:p>
          <a:p>
            <a:pPr lvl="0"/>
            <a:r>
              <a:rPr/>
              <a:t>showtext：中文字体支持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5.2 依赖管理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依赖管理策略：</a:t>
            </a:r>
          </a:p>
          <a:p>
            <a:pPr lvl="0"/>
            <a:r>
              <a:rPr/>
              <a:t>使用</a:t>
            </a:r>
            <a:r>
              <a:rPr>
                <a:latin typeface="Courier"/>
              </a:rPr>
              <a:t>rsconnect::appDependencies()</a:t>
            </a:r>
            <a:r>
              <a:rPr/>
              <a:t>检查依赖</a:t>
            </a:r>
          </a:p>
          <a:p>
            <a:pPr lvl="0"/>
            <a:r>
              <a:rPr/>
              <a:t>考虑使用</a:t>
            </a:r>
            <a:r>
              <a:rPr>
                <a:latin typeface="Courier"/>
              </a:rPr>
              <a:t>renv</a:t>
            </a:r>
            <a:r>
              <a:rPr/>
              <a:t>或</a:t>
            </a:r>
            <a:r>
              <a:rPr>
                <a:latin typeface="Courier"/>
              </a:rPr>
              <a:t>packrat</a:t>
            </a:r>
            <a:r>
              <a:rPr/>
              <a:t>管理依赖版本</a:t>
            </a:r>
          </a:p>
          <a:p>
            <a:pPr lvl="0"/>
            <a:r>
              <a:rPr/>
              <a:t>记录依赖版本，确保可重现性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5.3 监控与维护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监控重点：</a:t>
            </a:r>
          </a:p>
          <a:p>
            <a:pPr lvl="0"/>
            <a:r>
              <a:rPr/>
              <a:t>应用可用性</a:t>
            </a:r>
          </a:p>
          <a:p>
            <a:pPr lvl="0"/>
            <a:r>
              <a:rPr/>
              <a:t>响应时间</a:t>
            </a:r>
          </a:p>
          <a:p>
            <a:pPr lvl="0"/>
            <a:r>
              <a:rPr/>
              <a:t>错误率</a:t>
            </a:r>
          </a:p>
          <a:p>
            <a:pPr lvl="0"/>
            <a:r>
              <a:rPr/>
              <a:t>资源使用情况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5.3 监控与维护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维护计划：</a:t>
            </a:r>
          </a:p>
          <a:p>
            <a:pPr lvl="0"/>
            <a:r>
              <a:rPr/>
              <a:t>定期更新依赖包</a:t>
            </a:r>
          </a:p>
          <a:p>
            <a:pPr lvl="0"/>
            <a:r>
              <a:rPr/>
              <a:t>监控模型性能，必要时重新训练</a:t>
            </a:r>
          </a:p>
          <a:p>
            <a:pPr lvl="0"/>
            <a:r>
              <a:rPr/>
              <a:t>收集用户反馈，持续改进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Vibe Coding开发范式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6.1 定义：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Vibe Coding 是一种创新的开发范式，结合了 AI 辅助编程和传统开发流程</a:t>
            </a:r>
          </a:p>
          <a:p>
            <a:pPr lvl="0"/>
            <a:r>
              <a:rPr/>
              <a:t>强调开发者与 AI 助手之间的协作与互动</a:t>
            </a:r>
          </a:p>
          <a:p>
            <a:pPr lvl="0"/>
            <a:r>
              <a:rPr/>
              <a:t>注重代码质量、开发效率和开发者体验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6.2 在 Trae IDE 中的实践：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使用 Trae IDE 作为开发环境，享受集成的 AI 辅助功能</a:t>
            </a:r>
          </a:p>
          <a:p>
            <a:pPr lvl="0"/>
            <a:r>
              <a:rPr/>
              <a:t>通过自然语言描述需求，快速生成代码框架</a:t>
            </a:r>
          </a:p>
          <a:p>
            <a:pPr lvl="0"/>
            <a:r>
              <a:rPr/>
              <a:t>实时获取代码建议和优化方案</a:t>
            </a:r>
          </a:p>
          <a:p>
            <a:pPr lvl="0"/>
            <a:r>
              <a:rPr/>
              <a:t>智能处理错误和异常情况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6.3 开发流程：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需求分析</a:t>
            </a:r>
            <a:r>
              <a:rPr/>
              <a:t>：明确应用目标和功能需求</a:t>
            </a:r>
          </a:p>
          <a:p>
            <a:pPr lvl="0" indent="-342900" marL="342900">
              <a:buAutoNum type="arabicPeriod"/>
            </a:pPr>
            <a:r>
              <a:rPr b="1"/>
              <a:t>架构设计</a:t>
            </a:r>
            <a:r>
              <a:rPr/>
              <a:t>：设计应用的整体架构和模块划分</a:t>
            </a:r>
          </a:p>
          <a:p>
            <a:pPr lvl="0" indent="-342900" marL="342900">
              <a:buAutoNum type="arabicPeriod"/>
            </a:pPr>
            <a:r>
              <a:rPr b="1"/>
              <a:t>代码生成</a:t>
            </a:r>
            <a:r>
              <a:rPr/>
              <a:t>：基于架构设计生成初始代码</a:t>
            </a:r>
          </a:p>
          <a:p>
            <a:pPr lvl="0" indent="-342900" marL="342900">
              <a:buAutoNum type="arabicPeriod"/>
            </a:pPr>
            <a:r>
              <a:rPr b="1"/>
              <a:t>迭代优化</a:t>
            </a:r>
            <a:r>
              <a:rPr/>
              <a:t>：通过 AI 建议和人工审核不断优化代码</a:t>
            </a:r>
          </a:p>
          <a:p>
            <a:pPr lvl="0" indent="-342900" marL="342900">
              <a:buAutoNum type="arabicPeriod"/>
            </a:pPr>
            <a:r>
              <a:rPr b="1"/>
              <a:t>测试验证</a:t>
            </a:r>
            <a:r>
              <a:rPr/>
              <a:t>：确保应用功能正常和性能良好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6.4 优势：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提高开发效率，减少重复工作</a:t>
            </a:r>
          </a:p>
          <a:p>
            <a:pPr lvl="0"/>
            <a:r>
              <a:rPr/>
              <a:t>降低技术门槛，适合不同水平的开发者</a:t>
            </a:r>
          </a:p>
          <a:p>
            <a:pPr lvl="0"/>
            <a:r>
              <a:rPr/>
              <a:t>保证代码质量和一致性</a:t>
            </a:r>
          </a:p>
          <a:p>
            <a:pPr lvl="0"/>
            <a:r>
              <a:rPr/>
              <a:t>促进创新和最佳实践的应用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6.4 本应用的开发过程：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全程在 Trae IDE 中采用 Vibe Coding 范式开发</a:t>
            </a:r>
          </a:p>
          <a:p>
            <a:pPr lvl="0"/>
            <a:r>
              <a:rPr/>
              <a:t>从需求分析到最终部署，AI 助手全程参与</a:t>
            </a:r>
          </a:p>
          <a:p>
            <a:pPr lvl="0"/>
            <a:r>
              <a:rPr/>
              <a:t>快速迭代，不断优化用户体验和系统性能</a:t>
            </a:r>
          </a:p>
          <a:p>
            <a:pPr lvl="0"/>
            <a:r>
              <a:rPr/>
              <a:t>确保代码的可维护性和扩展性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 参考资料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Shiny官方文档</a:t>
            </a:r>
          </a:p>
          <a:p>
            <a:pPr lvl="0"/>
            <a:r>
              <a:rPr>
                <a:hlinkClick r:id="rId3"/>
              </a:rPr>
              <a:t>XGBoost文档</a:t>
            </a:r>
          </a:p>
          <a:p>
            <a:pPr lvl="0"/>
            <a:r>
              <a:rPr>
                <a:hlinkClick r:id="rId4"/>
              </a:rPr>
              <a:t>SHAP值解释</a:t>
            </a:r>
          </a:p>
          <a:p>
            <a:pPr lvl="0"/>
            <a:r>
              <a:rPr>
                <a:hlinkClick r:id="rId5"/>
              </a:rPr>
              <a:t>shinyapps.io部署指南</a:t>
            </a:r>
          </a:p>
          <a:p>
            <a:pPr lvl="0"/>
            <a:r>
              <a:rPr>
                <a:hlinkClick r:id="rId6"/>
              </a:rPr>
              <a:t>R语言中文字体支持</a:t>
            </a:r>
          </a:p>
          <a:p>
            <a:pPr lvl="0"/>
            <a:r>
              <a:rPr>
                <a:hlinkClick r:id="rId7"/>
              </a:rPr>
              <a:t>Vibe Coding官方文档</a:t>
            </a:r>
          </a:p>
          <a:p>
            <a:pPr lvl="0"/>
            <a:r>
              <a:rPr>
                <a:hlinkClick r:id="rId8"/>
              </a:rPr>
              <a:t>Trae IDE使用指南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内在能力评估Shiny应用构建教程</dc:title>
  <dc:creator>康瑞赋</dc:creator>
  <cp:keywords/>
  <dcterms:created xsi:type="dcterms:W3CDTF">2026-02-27T01:19:30Z</dcterms:created>
  <dcterms:modified xsi:type="dcterms:W3CDTF">2026-02-27T01:19:30Z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2026-02-27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lide-numbering">
    <vt:lpwstr>True</vt:lpwstr>
  </property>
  <property fmtid="{D5CDD505-2E9C-101B-9397-08002B2CF9AE}" pid="11" name="toc-title">
    <vt:lpwstr>Table of contents</vt:lpwstr>
  </property>
</Properties>
</file>